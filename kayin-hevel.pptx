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פתיחה" id="{35daeab4-bb97-97b0-8d42-19b5e36f1a53}">
          <p14:sldIdLst>
            <p14:sldId id="256"/>
          </p14:sldIdLst>
        </p14:section>
        <p14:section name="הסיפור" id="{2f693bd3-70fe-5d02-7953-0d7ea386a809}">
          <p14:sldIdLst>
            <p14:sldId id="257"/>
            <p14:sldId id="258"/>
          </p14:sldIdLst>
        </p14:section>
        <p14:section name="בחירה ופרשנות" id="{f25c8b68-971d-6307-d506-5eacdf1c1832}">
          <p14:sldIdLst>
            <p14:sldId id="259"/>
            <p14:sldId id="260"/>
          </p14:sldIdLst>
        </p14:section>
        <p14:section name="חטא ואחריות" id="{91144175-f523-6aaa-a67e-f218d863ae89}">
          <p14:sldIdLst>
            <p14:sldId id="261"/>
            <p14:sldId id="262"/>
            <p14:sldId id="263"/>
          </p14:sldIdLst>
        </p14:section>
        <p14:section name="פעילות וסיכום" id="{9f9a6069-e96c-8e55-9e5d-ff41d685718a}">
          <p14:sldIdLst>
            <p14:sldId id="264"/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פותחים בשאלה ולא בתשובה: האם קין היה חייב לחטוא או שבחר? מבקשים מהכיתה לחשוב על התשובה שלהם עכשיו — ונחזור אליה בסוף המצגת.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מספרים את הסיפור בשישה צעדים לפי הפסוקים. שימו לב: בין הכעס (פסוק ה׳) לבין המעשה (פסוק ח׳) יש אזהרה מה׳ — כלומר הייתה הזדמנות לעצור.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הרגש הראשוני — אכזבה, קנאה — הוא טבעי. ה׳ לא מאשים את קין על הכעס, אלא שואל אותו עליו. השאלה לכיתה: באיזה שלב בתרשים קין עוד יכול היה לעצור?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זה לב המצגת. קוראים את הפסוק לאט. רש״י מפרש „ואתה תמשל בו”: אם תרצה — תתגבר עליו. כלומר החטא אינו גזירה; יש לאדם יכולת לבחור. לשאול: מה המשמעות של „אם תרצה”?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מבחינים בין הכתוב לבין הפרשנות. הפסוקים מתארים מה כל אחד הביא ושה׳ שעה להבל — אך לא מסבירים למה. ההסברים (איכות המנחה, הכוונה) הם פרשנות של חז״ל ורש״י, לא דברי הפסוק עצמו.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למעשה יש תוצאות. האדמה עצמה „זועקת” — אי אפשר להסתיר פגיעה. העונש: נע ונד, בלי שקט ובלי בית. ועדיין — קין מכיר באשמתו וה׳ מגן עליו באות. גם אחרי חטא יש מקום להכרה ולתיקון.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השאלה של קין היא התחמקות. התשובה של המצגת: כן, אני שומר אחי. מבקשים דוגמה מחיי הכיתה — מתי ראינו פגיעה, ומה אפשר היה לעשות במקום להתעלם?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לקיחת אחריות פירושה להודות במעשה ולא לברוח ממנו בתירוצים. רש״י (ד׳, ט׳) אומר שה׳ שאל „אי הבל אחיך” כדי לתת לקין פתח: „אולי ישוב ויאמר: אני הרגתיו וחטאתי לך” — אבל קין ענה „לא ידעתי”. במדרש תנחומא קין מנסה תירוצים: „בראת בי יצר הרע”, „לא ידעתי”. מולו יהודה ודוד מודים מיד. לפי הרמב״ם, תשובה מתחילה בווידוי: להודות, להתחרט ולהתחייב לא לחזור. לשאול את הכיתה: אילו תירוצים אנחנו אומרים כשאנחנו טועים?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מחלקים את הכיתה לקבוצות קטנות לכמה דקות. כל קבוצה עונה על שלוש השאלות ובוחרת כרטיס תגובה. מדגישים: הקנאה עצמה טבעית — „למשול בחטא” פירושו לבחור מה עושים איתה. שאלת המשך: ואם כבר פגעתם בחבר — איך לוקחים אחריות?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מסכמים בשלושה מסרים. חוזרים לשאלת הפתיחה: קין לא היה חייב לחטוא — הוא קיבל אזהרה והייתה לו בחירה. וגם אחרי שטעינו, הבחירה ממשיכה: להודות ולא לברוח. מסיימים בשאלה פתוחה לכיתה: איזו בחירה קטנה שלנו יכולה לשנות תוצאה גדולה? דף המקורות המלא: https://arielagubal.github.io/kayin-hevel/sources.html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rtl="1" algn="r" indent="0" marL="0">
              <a:buNone/>
              <a:defRPr lang="he-IL" altLang="en-US" sz="3000" b="1" dirty="0">
                <a:solidFill>
                  <a:schemeClr val="tx2"/>
                </a:solidFill>
              </a:defRPr>
            </a:lvl1pPr>
          </a:lstStyle>
          <a:p>
            <a:pPr algn="r" indent="0" marL="0">
              <a:buNone/>
            </a:pPr>
            <a:endParaRPr lang="he-IL" sz="3000" dirty="0"/>
          </a:p>
        </p:txBody>
      </p:sp>
      <p:sp>
        <p:nvSpPr>
          <p:cNvPr id="3" name="Text 0"/>
          <p:cNvSpPr/>
          <p:nvPr/>
        </p:nvSpPr>
        <p:spPr>
          <a:xfrm>
            <a:off x="4114800" y="477316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he-IL" altLang="en-US" sz="900" dirty="0">
                <a:solidFill>
                  <a:schemeClr val="accent6"/>
                </a:solidFill>
              </a:rPr>
              <a:t>קין והבל — בחירה, חטא ואחריות · בראשית פרק ד׳</a:t>
            </a:r>
            <a:endParaRPr lang="he-IL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rtl="1" algn="r" indent="0" marL="0">
              <a:buNone/>
              <a:defRPr lang="he-IL" altLang="en-US" sz="3200" b="1" dirty="0">
                <a:solidFill>
                  <a:schemeClr val="accent1"/>
                </a:solidFill>
              </a:defRPr>
            </a:lvl1pPr>
          </a:lstStyle>
          <a:p>
            <a:pPr algn="r" indent="0" marL="0">
              <a:buNone/>
            </a:pPr>
            <a:endParaRPr lang="he-IL" sz="3200" dirty="0"/>
          </a:p>
        </p:txBody>
      </p:sp>
      <p:sp>
        <p:nvSpPr>
          <p:cNvPr id="3" name="Text 0"/>
          <p:cNvSpPr/>
          <p:nvPr/>
        </p:nvSpPr>
        <p:spPr>
          <a:xfrm>
            <a:off x="4114800" y="477316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he-IL" altLang="en-US" sz="900" dirty="0">
                <a:solidFill>
                  <a:schemeClr val="accent3"/>
                </a:solidFill>
              </a:rPr>
              <a:t>קין והבל — בחירה, חטא ואחריות · בראשית פרק ד׳</a:t>
            </a:r>
            <a:endParaRPr lang="he-IL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ULL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0" y="320040"/>
            <a:ext cx="41148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rtl="1" algn="r" indent="0" marL="0">
              <a:buNone/>
              <a:defRPr lang="he-IL" altLang="en-US" sz="3200" b="1" dirty="0">
                <a:solidFill>
                  <a:schemeClr val="accent1"/>
                </a:solidFill>
              </a:defRPr>
            </a:lvl1pPr>
          </a:lstStyle>
          <a:p>
            <a:pPr algn="r" indent="0" marL="0">
              <a:buNone/>
            </a:pPr>
            <a:endParaRPr lang="he-IL" sz="32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hyperlink" Target="https://arielagubal.github.io/kayin-hevel/sources.html" TargetMode="External"/><Relationship Id="rId1" Type="http://schemas.openxmlformats.org/officeDocument/2006/relationships/image" Target="../media/image-10-1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llustration" descr="איור: שני אחים עומדים במרחק זה מזה בשקיעה — אחד ליד שדה חרוש ואחד ליד עדר צאן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846320" y="68580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1400" b="1" spc="100" kern="0" dirty="0">
                <a:solidFill>
                  <a:schemeClr val="accent1"/>
                </a:solidFill>
              </a:rPr>
              <a:t>בראשית פרק ד׳</a:t>
            </a:r>
            <a:endParaRPr lang="he-IL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4846320" y="1005840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4800" b="1" dirty="0">
                <a:solidFill>
                  <a:schemeClr val="bg1"/>
                </a:solidFill>
              </a:rPr>
              <a:t>קין והבל</a:t>
            </a:r>
            <a:endParaRPr lang="he-IL" sz="4800" dirty="0"/>
          </a:p>
        </p:txBody>
      </p:sp>
      <p:sp>
        <p:nvSpPr>
          <p:cNvPr id="5" name="Text 2"/>
          <p:cNvSpPr txBox="1"/>
          <p:nvPr/>
        </p:nvSpPr>
        <p:spPr>
          <a:xfrm>
            <a:off x="4846320" y="178308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600" dirty="0">
                <a:solidFill>
                  <a:schemeClr val="accent3"/>
                </a:solidFill>
              </a:rPr>
              <a:t>בחירה, חטא ואחריות</a:t>
            </a:r>
            <a:endParaRPr lang="he-IL" sz="2600" dirty="0"/>
          </a:p>
        </p:txBody>
      </p:sp>
      <p:sp>
        <p:nvSpPr>
          <p:cNvPr id="6" name="Big question box"/>
          <p:cNvSpPr/>
          <p:nvPr/>
        </p:nvSpPr>
        <p:spPr>
          <a:xfrm>
            <a:off x="4846320" y="2514600"/>
            <a:ext cx="3840480" cy="1143000"/>
          </a:xfrm>
          <a:prstGeom prst="roundRect">
            <a:avLst>
              <a:gd name="adj" fmla="val 9600"/>
            </a:avLst>
          </a:prstGeom>
          <a:solidFill>
            <a:schemeClr val="tx2">
              <a:alpha val="75000"/>
            </a:schemeClr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4983480" y="2560320"/>
            <a:ext cx="3566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1200" b="1" dirty="0">
                <a:solidFill>
                  <a:schemeClr val="accent1"/>
                </a:solidFill>
              </a:rPr>
              <a:t>השאלה הגדולה</a:t>
            </a:r>
            <a:endParaRPr lang="he-IL" sz="1200" dirty="0"/>
          </a:p>
          <a:p>
            <a:pPr rtl="1" algn="r" indent="0" marL="0">
              <a:buNone/>
            </a:pPr>
            <a:r>
              <a:rPr lang="he-IL" altLang="en-US" sz="1800" b="1" dirty="0">
                <a:solidFill>
                  <a:schemeClr val="bg1"/>
                </a:solidFill>
              </a:rPr>
              <a:t>האם קין היה חייב לחטוא —‏</a:t>
            </a:r>
            <a:endParaRPr lang="he-IL" sz="1200" dirty="0"/>
          </a:p>
          <a:p>
            <a:pPr rtl="1" algn="r" indent="0" marL="0">
              <a:buNone/>
            </a:pPr>
            <a:r>
              <a:rPr lang="he-IL" altLang="en-US" sz="1800" b="1" dirty="0">
                <a:solidFill>
                  <a:schemeClr val="accent1"/>
                </a:solidFill>
              </a:rPr>
              <a:t>או שהוא בחר?‏</a:t>
            </a:r>
            <a:endParaRPr lang="he-IL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4846320" y="397764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1100" b="1" dirty="0">
                <a:solidFill>
                  <a:schemeClr val="accent1"/>
                </a:solidFill>
              </a:rPr>
              <a:t>מציגים</a:t>
            </a:r>
            <a:endParaRPr lang="he-IL" sz="1100" dirty="0"/>
          </a:p>
          <a:p>
            <a:pPr rtl="1" algn="r" indent="0" marL="0">
              <a:buNone/>
            </a:pPr>
            <a:r>
              <a:rPr lang="he-IL" altLang="en-US" sz="1400" dirty="0">
                <a:solidFill>
                  <a:schemeClr val="bg1"/>
                </a:solidFill>
              </a:rPr>
              <a:t>אריאל אג׳ובל · אורי טבול · איתמר אלבוים</a:t>
            </a:r>
            <a:endParaRPr lang="he-IL" sz="1100" dirty="0"/>
          </a:p>
        </p:txBody>
      </p:sp>
      <p:sp>
        <p:nvSpPr>
          <p:cNvPr id="10" name="Text 0"/>
          <p:cNvSpPr/>
          <p:nvPr>
            <p:ph idx="100" type="title" hasCustomPrompt="1"/>
          </p:nvPr>
        </p:nvSpPr>
        <p:spPr>
          <a:xfrm>
            <a:off x="4572000" y="32004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endParaRPr lang="he-IL" sz="3200" dirty="0"/>
          </a:p>
        </p:txBody>
      </p:sp>
    </p:spTree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1500">
        <p15:prstTrans prst="pageCurlDouble" invX="1"/>
      </p:transition>
    </mc:Choice>
    <mc:Fallback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3000" b="1" dirty="0">
                <a:solidFill>
                  <a:schemeClr val="tx2"/>
                </a:solidFill>
              </a:rPr>
              <a:t>הסיפור בקצרה</a:t>
            </a:r>
            <a:endParaRPr lang="he-IL" sz="3000" dirty="0"/>
          </a:p>
        </p:txBody>
      </p:sp>
      <p:pic>
        <p:nvPicPr>
          <p:cNvPr id="3" name="Illustration" descr="איור: שדה חיטה זהוב ועדר צאן על גבעה ירוקה, עם עובד אדמה ורועה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51560"/>
            <a:ext cx="3108960" cy="3602736"/>
          </a:xfrm>
          <a:prstGeom prst="rect">
            <a:avLst/>
          </a:prstGeom>
        </p:spPr>
      </p:pic>
      <p:sp>
        <p:nvSpPr>
          <p:cNvPr id="4" name="Timeline line"/>
          <p:cNvSpPr/>
          <p:nvPr/>
        </p:nvSpPr>
        <p:spPr>
          <a:xfrm>
            <a:off x="8522208" y="1234440"/>
            <a:ext cx="0" cy="3200400"/>
          </a:xfrm>
          <a:prstGeom prst="line">
            <a:avLst/>
          </a:prstGeom>
          <a:noFill/>
          <a:ln w="31750">
            <a:solidFill>
              <a:schemeClr val="accent3"/>
            </a:solidFill>
            <a:prstDash val="solid"/>
          </a:ln>
        </p:spPr>
      </p:sp>
      <p:sp>
        <p:nvSpPr>
          <p:cNvPr id="5" name="Step 1 dot"/>
          <p:cNvSpPr/>
          <p:nvPr/>
        </p:nvSpPr>
        <p:spPr>
          <a:xfrm>
            <a:off x="8385048" y="1152144"/>
            <a:ext cx="274320" cy="274320"/>
          </a:xfrm>
          <a:prstGeom prst="ellipse">
            <a:avLst/>
          </a:prstGeom>
          <a:solidFill>
            <a:schemeClr val="tx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385048" y="115214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he-IL" altLang="en-US" sz="1000" b="1" dirty="0">
                <a:solidFill>
                  <a:schemeClr val="bg1"/>
                </a:solidFill>
              </a:rPr>
              <a:t>‏1‏</a:t>
            </a:r>
            <a:endParaRPr lang="he-IL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3931920" y="1078992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500" b="1" dirty="0">
                <a:solidFill>
                  <a:schemeClr val="tx2"/>
                </a:solidFill>
              </a:rPr>
              <a:t>קין עובד אדמה, הבל רועה צאן</a:t>
            </a:r>
            <a:endParaRPr lang="he-IL" sz="1500" dirty="0"/>
          </a:p>
          <a:p>
            <a:pPr rtl="1" algn="r" indent="0" marL="0">
              <a:buNone/>
            </a:pPr>
            <a:r>
              <a:rPr lang="he-IL" altLang="en-US" sz="1100" dirty="0">
                <a:solidFill>
                  <a:schemeClr val="accent6"/>
                </a:solidFill>
              </a:rPr>
              <a:t>בראשית ד׳, ב׳</a:t>
            </a:r>
            <a:endParaRPr lang="he-IL" sz="1500" dirty="0"/>
          </a:p>
        </p:txBody>
      </p:sp>
      <p:sp>
        <p:nvSpPr>
          <p:cNvPr id="8" name="Step 2 dot"/>
          <p:cNvSpPr/>
          <p:nvPr/>
        </p:nvSpPr>
        <p:spPr>
          <a:xfrm>
            <a:off x="8385048" y="1737360"/>
            <a:ext cx="274320" cy="274320"/>
          </a:xfrm>
          <a:prstGeom prst="ellipse">
            <a:avLst/>
          </a:prstGeom>
          <a:solidFill>
            <a:schemeClr val="tx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385048" y="1737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he-IL" altLang="en-US" sz="1000" b="1" dirty="0">
                <a:solidFill>
                  <a:schemeClr val="bg1"/>
                </a:solidFill>
              </a:rPr>
              <a:t>‏2‏</a:t>
            </a:r>
            <a:endParaRPr lang="he-IL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3931920" y="1664208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500" b="1" dirty="0">
                <a:solidFill>
                  <a:schemeClr val="tx2"/>
                </a:solidFill>
              </a:rPr>
              <a:t>שני האחים מביאים מנחה לה׳</a:t>
            </a:r>
            <a:endParaRPr lang="he-IL" sz="1500" dirty="0"/>
          </a:p>
          <a:p>
            <a:pPr rtl="1" algn="r" indent="0" marL="0">
              <a:buNone/>
            </a:pPr>
            <a:r>
              <a:rPr lang="he-IL" altLang="en-US" sz="1100" dirty="0">
                <a:solidFill>
                  <a:schemeClr val="accent6"/>
                </a:solidFill>
              </a:rPr>
              <a:t>בראשית ד׳, ג׳–ד׳</a:t>
            </a:r>
            <a:endParaRPr lang="he-IL" sz="1500" dirty="0"/>
          </a:p>
        </p:txBody>
      </p:sp>
      <p:sp>
        <p:nvSpPr>
          <p:cNvPr id="11" name="Step 3 dot"/>
          <p:cNvSpPr/>
          <p:nvPr/>
        </p:nvSpPr>
        <p:spPr>
          <a:xfrm>
            <a:off x="8385048" y="2322576"/>
            <a:ext cx="274320" cy="274320"/>
          </a:xfrm>
          <a:prstGeom prst="ellipse">
            <a:avLst/>
          </a:prstGeom>
          <a:solidFill>
            <a:schemeClr val="tx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385048" y="23225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he-IL" altLang="en-US" sz="1000" b="1" dirty="0">
                <a:solidFill>
                  <a:schemeClr val="bg1"/>
                </a:solidFill>
              </a:rPr>
              <a:t>‏3‏</a:t>
            </a:r>
            <a:endParaRPr lang="he-IL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3931920" y="2249424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500" b="1" dirty="0">
                <a:solidFill>
                  <a:schemeClr val="tx2"/>
                </a:solidFill>
              </a:rPr>
              <a:t>ה׳ שועה אל הבל ומנחתו — ואל קין לא</a:t>
            </a:r>
            <a:endParaRPr lang="he-IL" sz="1500" dirty="0"/>
          </a:p>
          <a:p>
            <a:pPr rtl="1" algn="r" indent="0" marL="0">
              <a:buNone/>
            </a:pPr>
            <a:r>
              <a:rPr lang="he-IL" altLang="en-US" sz="1100" dirty="0">
                <a:solidFill>
                  <a:schemeClr val="accent6"/>
                </a:solidFill>
              </a:rPr>
              <a:t>בראשית ד׳, ד׳–ה׳</a:t>
            </a:r>
            <a:endParaRPr lang="he-IL" sz="1500" dirty="0"/>
          </a:p>
        </p:txBody>
      </p:sp>
      <p:sp>
        <p:nvSpPr>
          <p:cNvPr id="14" name="Step 4 dot"/>
          <p:cNvSpPr/>
          <p:nvPr/>
        </p:nvSpPr>
        <p:spPr>
          <a:xfrm>
            <a:off x="8385048" y="2907792"/>
            <a:ext cx="274320" cy="274320"/>
          </a:xfrm>
          <a:prstGeom prst="ellipse">
            <a:avLst/>
          </a:prstGeom>
          <a:solidFill>
            <a:schemeClr val="tx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385048" y="290779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he-IL" altLang="en-US" sz="1000" b="1" dirty="0">
                <a:solidFill>
                  <a:schemeClr val="bg1"/>
                </a:solidFill>
              </a:rPr>
              <a:t>‏4‏</a:t>
            </a:r>
            <a:endParaRPr lang="he-IL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3931920" y="283464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500" b="1" dirty="0">
                <a:solidFill>
                  <a:schemeClr val="tx2"/>
                </a:solidFill>
              </a:rPr>
              <a:t>קין כועס מאוד, ופניו נופלות</a:t>
            </a:r>
            <a:endParaRPr lang="he-IL" sz="1500" dirty="0"/>
          </a:p>
          <a:p>
            <a:pPr rtl="1" algn="r" indent="0" marL="0">
              <a:buNone/>
            </a:pPr>
            <a:r>
              <a:rPr lang="he-IL" altLang="en-US" sz="1100" dirty="0">
                <a:solidFill>
                  <a:schemeClr val="accent6"/>
                </a:solidFill>
              </a:rPr>
              <a:t>בראשית ד׳, ה׳</a:t>
            </a:r>
            <a:endParaRPr lang="he-IL" sz="1500" dirty="0"/>
          </a:p>
        </p:txBody>
      </p:sp>
      <p:sp>
        <p:nvSpPr>
          <p:cNvPr id="17" name="Step 5 dot"/>
          <p:cNvSpPr/>
          <p:nvPr/>
        </p:nvSpPr>
        <p:spPr>
          <a:xfrm>
            <a:off x="8385048" y="3493008"/>
            <a:ext cx="274320" cy="274320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385048" y="34930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he-IL" altLang="en-US" sz="1000" b="1" dirty="0">
                <a:solidFill>
                  <a:schemeClr val="bg1"/>
                </a:solidFill>
              </a:rPr>
              <a:t>‏5‏</a:t>
            </a:r>
            <a:endParaRPr lang="he-IL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3931920" y="3419856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500" b="1" dirty="0">
                <a:solidFill>
                  <a:schemeClr val="tx2"/>
                </a:solidFill>
              </a:rPr>
              <a:t>אזהרה: „וְאַתָּה תִּמְשָׁל־בּוֹ”‏</a:t>
            </a:r>
            <a:endParaRPr lang="he-IL" sz="1500" dirty="0"/>
          </a:p>
          <a:p>
            <a:pPr rtl="1" algn="r" indent="0" marL="0">
              <a:buNone/>
            </a:pPr>
            <a:r>
              <a:rPr lang="he-IL" altLang="en-US" sz="1100" dirty="0">
                <a:solidFill>
                  <a:schemeClr val="accent6"/>
                </a:solidFill>
              </a:rPr>
              <a:t>בראשית ד׳, ו׳–ז׳</a:t>
            </a:r>
            <a:endParaRPr lang="he-IL" sz="1500" dirty="0"/>
          </a:p>
        </p:txBody>
      </p:sp>
      <p:sp>
        <p:nvSpPr>
          <p:cNvPr id="20" name="Step 6 dot"/>
          <p:cNvSpPr/>
          <p:nvPr/>
        </p:nvSpPr>
        <p:spPr>
          <a:xfrm>
            <a:off x="8385048" y="4078224"/>
            <a:ext cx="274320" cy="274320"/>
          </a:xfrm>
          <a:prstGeom prst="ellipse">
            <a:avLst/>
          </a:prstGeom>
          <a:solidFill>
            <a:schemeClr val="accent5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385048" y="40782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he-IL" altLang="en-US" sz="1000" b="1" dirty="0">
                <a:solidFill>
                  <a:schemeClr val="bg1"/>
                </a:solidFill>
              </a:rPr>
              <a:t>‏6‏</a:t>
            </a:r>
            <a:endParaRPr lang="he-IL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3931920" y="4005072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500" b="1" dirty="0">
                <a:solidFill>
                  <a:schemeClr val="tx2"/>
                </a:solidFill>
              </a:rPr>
              <a:t>קין קם על הבל אחיו — והפגיעה מתרחשת</a:t>
            </a:r>
            <a:endParaRPr lang="he-IL" sz="1500" dirty="0"/>
          </a:p>
          <a:p>
            <a:pPr rtl="1" algn="r" indent="0" marL="0">
              <a:buNone/>
            </a:pPr>
            <a:r>
              <a:rPr lang="he-IL" altLang="en-US" sz="1100" dirty="0">
                <a:solidFill>
                  <a:schemeClr val="accent6"/>
                </a:solidFill>
              </a:rPr>
              <a:t>בראשית ד׳, ח׳</a:t>
            </a:r>
            <a:endParaRPr lang="he-IL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1500">
        <p15:prstTrans prst="pageCurlDouble" invX="1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3000" b="1" dirty="0">
                <a:solidFill>
                  <a:schemeClr val="tx2"/>
                </a:solidFill>
              </a:rPr>
              <a:t>איפה מתחיל הרע?‏</a:t>
            </a:r>
            <a:endParaRPr lang="he-IL" sz="3000" dirty="0"/>
          </a:p>
        </p:txBody>
      </p:sp>
      <p:sp>
        <p:nvSpPr>
          <p:cNvPr id="3" name="Flow 1"/>
          <p:cNvSpPr/>
          <p:nvPr/>
        </p:nvSpPr>
        <p:spPr>
          <a:xfrm>
            <a:off x="7269480" y="1188720"/>
            <a:ext cx="1417320" cy="822960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269480" y="1188720"/>
            <a:ext cx="141732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rtl="1" algn="ctr" indent="0" marL="0">
              <a:buNone/>
            </a:pPr>
            <a:r>
              <a:rPr lang="he-IL" altLang="en-US" sz="1600" b="1" dirty="0">
                <a:solidFill>
                  <a:schemeClr val="tx2"/>
                </a:solidFill>
              </a:rPr>
              <a:t>אכזבה</a:t>
            </a:r>
            <a:endParaRPr lang="he-IL" sz="1600" dirty="0"/>
          </a:p>
        </p:txBody>
      </p:sp>
      <p:sp>
        <p:nvSpPr>
          <p:cNvPr id="5" name="Arrow 1"/>
          <p:cNvSpPr/>
          <p:nvPr/>
        </p:nvSpPr>
        <p:spPr>
          <a:xfrm>
            <a:off x="7022592" y="1481328"/>
            <a:ext cx="201168" cy="237744"/>
          </a:xfrm>
          <a:prstGeom prst="leftArrow">
            <a:avLst/>
          </a:prstGeom>
          <a:solidFill>
            <a:schemeClr val="accent1"/>
          </a:solidFill>
          <a:ln/>
        </p:spPr>
      </p:sp>
      <p:sp>
        <p:nvSpPr>
          <p:cNvPr id="6" name="Flow 2"/>
          <p:cNvSpPr/>
          <p:nvPr/>
        </p:nvSpPr>
        <p:spPr>
          <a:xfrm>
            <a:off x="5554980" y="1188720"/>
            <a:ext cx="1417320" cy="822960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554980" y="1188720"/>
            <a:ext cx="141732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rtl="1" algn="ctr" indent="0" marL="0">
              <a:buNone/>
            </a:pPr>
            <a:r>
              <a:rPr lang="he-IL" altLang="en-US" sz="1600" b="1" dirty="0">
                <a:solidFill>
                  <a:schemeClr val="tx2"/>
                </a:solidFill>
              </a:rPr>
              <a:t>כעס וקנאה</a:t>
            </a:r>
            <a:endParaRPr lang="he-IL" sz="1600" dirty="0"/>
          </a:p>
        </p:txBody>
      </p:sp>
      <p:sp>
        <p:nvSpPr>
          <p:cNvPr id="8" name="Arrow 2"/>
          <p:cNvSpPr/>
          <p:nvPr/>
        </p:nvSpPr>
        <p:spPr>
          <a:xfrm>
            <a:off x="5308092" y="1481328"/>
            <a:ext cx="201168" cy="237744"/>
          </a:xfrm>
          <a:prstGeom prst="leftArrow">
            <a:avLst/>
          </a:prstGeom>
          <a:solidFill>
            <a:schemeClr val="accent1"/>
          </a:solidFill>
          <a:ln/>
        </p:spPr>
      </p:sp>
      <p:sp>
        <p:nvSpPr>
          <p:cNvPr id="9" name="Flow 3"/>
          <p:cNvSpPr/>
          <p:nvPr/>
        </p:nvSpPr>
        <p:spPr>
          <a:xfrm>
            <a:off x="3840480" y="1188720"/>
            <a:ext cx="1417320" cy="822960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840480" y="1188720"/>
            <a:ext cx="141732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rtl="1" algn="ctr" indent="0" marL="0">
              <a:buNone/>
            </a:pPr>
            <a:r>
              <a:rPr lang="he-IL" altLang="en-US" sz="1600" b="1" dirty="0">
                <a:solidFill>
                  <a:schemeClr val="tx2"/>
                </a:solidFill>
              </a:rPr>
              <a:t>מחשבות ורגשות</a:t>
            </a:r>
            <a:endParaRPr lang="he-IL" sz="1600" dirty="0"/>
          </a:p>
        </p:txBody>
      </p:sp>
      <p:sp>
        <p:nvSpPr>
          <p:cNvPr id="11" name="Arrow 3"/>
          <p:cNvSpPr/>
          <p:nvPr/>
        </p:nvSpPr>
        <p:spPr>
          <a:xfrm>
            <a:off x="3593592" y="1481328"/>
            <a:ext cx="201168" cy="237744"/>
          </a:xfrm>
          <a:prstGeom prst="leftArrow">
            <a:avLst/>
          </a:prstGeom>
          <a:solidFill>
            <a:schemeClr val="accent1"/>
          </a:solidFill>
          <a:ln/>
        </p:spPr>
      </p:sp>
      <p:sp>
        <p:nvSpPr>
          <p:cNvPr id="12" name="Flow 4"/>
          <p:cNvSpPr/>
          <p:nvPr/>
        </p:nvSpPr>
        <p:spPr>
          <a:xfrm>
            <a:off x="2125980" y="1188720"/>
            <a:ext cx="1417320" cy="822960"/>
          </a:xfrm>
          <a:prstGeom prst="roundRect">
            <a:avLst>
              <a:gd name="adj" fmla="val 11111"/>
            </a:avLst>
          </a:prstGeom>
          <a:solidFill>
            <a:schemeClr val="accent1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2125980" y="1188720"/>
            <a:ext cx="141732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rtl="1" algn="ctr" indent="0" marL="0">
              <a:buNone/>
            </a:pPr>
            <a:r>
              <a:rPr lang="he-IL" altLang="en-US" sz="1600" b="1" dirty="0">
                <a:solidFill>
                  <a:schemeClr val="tx2"/>
                </a:solidFill>
              </a:rPr>
              <a:t>בחירה</a:t>
            </a:r>
            <a:endParaRPr lang="he-IL" sz="1600" dirty="0"/>
          </a:p>
        </p:txBody>
      </p:sp>
      <p:sp>
        <p:nvSpPr>
          <p:cNvPr id="14" name="Arrow 4"/>
          <p:cNvSpPr/>
          <p:nvPr/>
        </p:nvSpPr>
        <p:spPr>
          <a:xfrm>
            <a:off x="1879092" y="1481328"/>
            <a:ext cx="201168" cy="237744"/>
          </a:xfrm>
          <a:prstGeom prst="leftArrow">
            <a:avLst/>
          </a:prstGeom>
          <a:solidFill>
            <a:schemeClr val="accent1"/>
          </a:solidFill>
          <a:ln/>
        </p:spPr>
      </p:sp>
      <p:sp>
        <p:nvSpPr>
          <p:cNvPr id="15" name="Flow 5"/>
          <p:cNvSpPr/>
          <p:nvPr/>
        </p:nvSpPr>
        <p:spPr>
          <a:xfrm>
            <a:off x="411480" y="1188720"/>
            <a:ext cx="1417320" cy="822960"/>
          </a:xfrm>
          <a:prstGeom prst="roundRect">
            <a:avLst>
              <a:gd name="adj" fmla="val 11111"/>
            </a:avLst>
          </a:prstGeom>
          <a:solidFill>
            <a:schemeClr val="tx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11480" y="1188720"/>
            <a:ext cx="141732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rtl="1" algn="ctr" indent="0" marL="0">
              <a:buNone/>
            </a:pPr>
            <a:r>
              <a:rPr lang="he-IL" altLang="en-US" sz="1600" b="1" dirty="0">
                <a:solidFill>
                  <a:schemeClr val="bg1"/>
                </a:solidFill>
              </a:rPr>
              <a:t>מעשה ותוצאה</a:t>
            </a:r>
            <a:endParaRPr lang="he-IL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988820" y="2048256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he-IL" altLang="en-US" sz="1100" b="1" dirty="0">
                <a:solidFill>
                  <a:schemeClr val="accent1"/>
                </a:solidFill>
              </a:rPr>
              <a:t>כאן נמצאת נקודת ההכרעה</a:t>
            </a:r>
            <a:endParaRPr lang="he-IL" sz="1100" dirty="0"/>
          </a:p>
        </p:txBody>
      </p:sp>
      <p:pic>
        <p:nvPicPr>
          <p:cNvPr id="18" name="Illustration" descr="איור: מאזניים זהובים — בכף אחת ענן ובכף השנייה שמש, סמל להתלבטות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514600"/>
            <a:ext cx="3291840" cy="2148840"/>
          </a:xfrm>
          <a:prstGeom prst="rect">
            <a:avLst/>
          </a:prstGeom>
        </p:spPr>
      </p:pic>
      <p:sp>
        <p:nvSpPr>
          <p:cNvPr id="19" name="Key idea box"/>
          <p:cNvSpPr/>
          <p:nvPr/>
        </p:nvSpPr>
        <p:spPr>
          <a:xfrm>
            <a:off x="4023360" y="2514600"/>
            <a:ext cx="4663440" cy="2148840"/>
          </a:xfrm>
          <a:prstGeom prst="roundRect">
            <a:avLst>
              <a:gd name="adj" fmla="val 5106"/>
            </a:avLst>
          </a:prstGeom>
          <a:solidFill>
            <a:schemeClr val="tx2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4297680" y="2651760"/>
            <a:ext cx="41148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000" b="1" dirty="0">
                <a:solidFill>
                  <a:schemeClr val="bg1"/>
                </a:solidFill>
              </a:rPr>
              <a:t>רגש הוא לא בהכרח בחירה —‏</a:t>
            </a:r>
            <a:endParaRPr lang="he-IL" sz="2000" dirty="0"/>
          </a:p>
          <a:p>
            <a:pPr rtl="1" algn="r" indent="0" marL="0">
              <a:buNone/>
            </a:pPr>
            <a:r>
              <a:rPr lang="he-IL" altLang="en-US" sz="2000" b="1" dirty="0">
                <a:solidFill>
                  <a:schemeClr val="accent1"/>
                </a:solidFill>
              </a:rPr>
              <a:t>אבל התגובה לרגש יכולה להיות בחירה.‏</a:t>
            </a:r>
            <a:endParaRPr lang="he-IL" sz="20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3840480"/>
            <a:ext cx="4114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400" dirty="0">
                <a:solidFill>
                  <a:schemeClr val="accent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ה׳ שואל את קין: „לָמָּה חָרָה לָךְ וְלָמָּה נָפְלוּ פָנֶיךָ”‏</a:t>
            </a:r>
            <a:endParaRPr lang="he-IL" sz="1400" dirty="0"/>
          </a:p>
          <a:p>
            <a:pPr rtl="1" algn="r" indent="0" marL="0">
              <a:buNone/>
            </a:pPr>
            <a:r>
              <a:rPr lang="he-IL" altLang="en-US" sz="1100" dirty="0">
                <a:solidFill>
                  <a:schemeClr val="accent3"/>
                </a:solidFill>
              </a:rPr>
              <a:t>בראשית ד׳, ו׳</a:t>
            </a:r>
            <a:endParaRPr lang="he-IL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1500">
        <p15:prstTrans prst="pageCurlDouble" invX="1"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3200" b="1" dirty="0">
                <a:solidFill>
                  <a:schemeClr val="accent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‏„וְאַתָּה תִּמְשָׁל־בּוֹ”‏</a:t>
            </a:r>
            <a:endParaRPr lang="he-IL" sz="3200" dirty="0"/>
          </a:p>
        </p:txBody>
      </p:sp>
      <p:pic>
        <p:nvPicPr>
          <p:cNvPr id="3" name="Illustration" descr="איור: צומת דרכים — שביל אחד מוביל לצל ושביל אחר מוביל לאור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51560"/>
            <a:ext cx="3108960" cy="360273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3931920" y="1051560"/>
            <a:ext cx="4754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spcAft>
                <a:spcPts val="600"/>
              </a:spcAft>
              <a:buNone/>
            </a:pPr>
            <a:r>
              <a:rPr lang="he-IL" altLang="en-US" sz="2100" dirty="0">
                <a:solidFill>
                  <a:schemeClr val="bg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‏„הֲלוֹא אִם־תֵּיטִיב שְׂאֵת וְאִם לֹא תֵיטִיב לַפֶּתַח חַטָּאת רֹבֵץ וְאֵלֶיךָ תְּשׁוּקָתוֹ וְאַתָּה תִּמְשָׁל־בּוֹ”‏</a:t>
            </a:r>
            <a:endParaRPr lang="he-IL" sz="2100" dirty="0"/>
          </a:p>
          <a:p>
            <a:pPr rtl="1" algn="r" indent="0" marL="0">
              <a:spcAft>
                <a:spcPts val="600"/>
              </a:spcAft>
              <a:buNone/>
            </a:pPr>
            <a:r>
              <a:rPr lang="he-IL" altLang="en-US" sz="1200" b="1" dirty="0">
                <a:solidFill>
                  <a:schemeClr val="accent1"/>
                </a:solidFill>
              </a:rPr>
              <a:t>בראשית ד׳, ז׳</a:t>
            </a:r>
            <a:endParaRPr lang="he-IL" sz="2100" dirty="0"/>
          </a:p>
        </p:txBody>
      </p:sp>
      <p:sp>
        <p:nvSpPr>
          <p:cNvPr id="5" name="Rashi box"/>
          <p:cNvSpPr/>
          <p:nvPr/>
        </p:nvSpPr>
        <p:spPr>
          <a:xfrm>
            <a:off x="3931920" y="2651760"/>
            <a:ext cx="4754880" cy="868680"/>
          </a:xfrm>
          <a:prstGeom prst="roundRect">
            <a:avLst>
              <a:gd name="adj" fmla="val 10526"/>
            </a:avLst>
          </a:prstGeom>
          <a:solidFill>
            <a:srgbClr val="1F2F55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114800" y="2651760"/>
            <a:ext cx="4434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1800" b="1" dirty="0">
                <a:solidFill>
                  <a:schemeClr val="accent1"/>
                </a:solidFill>
              </a:rPr>
              <a:t>רש״י: „אם תרצה — תתגבר עליו”‏</a:t>
            </a:r>
            <a:endParaRPr lang="he-IL" sz="1800" dirty="0"/>
          </a:p>
          <a:p>
            <a:pPr rtl="1" algn="r" indent="0" marL="0">
              <a:buNone/>
            </a:pPr>
            <a:r>
              <a:rPr lang="he-IL" altLang="en-US" sz="1100" dirty="0">
                <a:solidFill>
                  <a:schemeClr val="accent3"/>
                </a:solidFill>
              </a:rPr>
              <a:t>רש״י על בראשית ד׳, ז׳</a:t>
            </a:r>
            <a:endParaRPr lang="he-IL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3931920" y="3703320"/>
            <a:ext cx="4754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600" dirty="0">
                <a:solidFill>
                  <a:schemeClr val="accent3"/>
                </a:solidFill>
              </a:rPr>
              <a:t>היצר קיים ו„רובץ בפתח” — אבל ההחלטה נשארת בידי האדם. לפי רש״י, הכוח להתגבר נתון לנו — אם נרצה.‏</a:t>
            </a:r>
            <a:endParaRPr lang="he-IL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1500">
        <p15:prstTrans prst="pageCurlDouble" invX="1"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3000" b="1" dirty="0">
                <a:solidFill>
                  <a:schemeClr val="tx2"/>
                </a:solidFill>
              </a:rPr>
              <a:t>מה כתוב — ומה נשאר פתוח?‏</a:t>
            </a:r>
            <a:endParaRPr lang="he-IL" sz="3000" dirty="0"/>
          </a:p>
        </p:txBody>
      </p:sp>
      <p:pic>
        <p:nvPicPr>
          <p:cNvPr id="3" name="Illustration" descr="איור: ספר פתוח לאור נר על רקע כחול כהה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51560"/>
            <a:ext cx="2926080" cy="3611880"/>
          </a:xfrm>
          <a:prstGeom prst="rect">
            <a:avLst/>
          </a:prstGeom>
        </p:spPr>
      </p:pic>
      <p:sp>
        <p:nvSpPr>
          <p:cNvPr id="4" name="Text card"/>
          <p:cNvSpPr/>
          <p:nvPr/>
        </p:nvSpPr>
        <p:spPr>
          <a:xfrm>
            <a:off x="6263640" y="1051560"/>
            <a:ext cx="2423160" cy="2743200"/>
          </a:xfrm>
          <a:prstGeom prst="roundRect">
            <a:avLst>
              <a:gd name="adj" fmla="val 3774"/>
            </a:avLst>
          </a:prstGeom>
          <a:solidFill>
            <a:schemeClr val="bg2"/>
          </a:solidFill>
          <a:ln/>
        </p:spPr>
      </p:sp>
      <p:sp>
        <p:nvSpPr>
          <p:cNvPr id="5" name="Text card circle"/>
          <p:cNvSpPr/>
          <p:nvPr/>
        </p:nvSpPr>
        <p:spPr>
          <a:xfrm>
            <a:off x="8138160" y="1188720"/>
            <a:ext cx="411480" cy="41148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6" name="Text card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1030" y="1291590"/>
            <a:ext cx="205740" cy="20574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400800" y="1188720"/>
            <a:ext cx="1664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1600" b="1" dirty="0">
                <a:solidFill>
                  <a:schemeClr val="tx2"/>
                </a:solidFill>
              </a:rPr>
              <a:t>מה כתוב בפסוק</a:t>
            </a:r>
            <a:endParaRPr lang="he-IL" sz="1600" dirty="0"/>
          </a:p>
        </p:txBody>
      </p:sp>
      <p:sp>
        <p:nvSpPr>
          <p:cNvPr id="8" name="Text 4"/>
          <p:cNvSpPr txBox="1"/>
          <p:nvPr/>
        </p:nvSpPr>
        <p:spPr>
          <a:xfrm>
            <a:off x="6400800" y="1737360"/>
            <a:ext cx="214884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spcAft>
                <a:spcPts val="800"/>
              </a:spcAft>
              <a:buNone/>
            </a:pPr>
            <a:r>
              <a:rPr lang="he-IL" altLang="en-US" sz="1400" dirty="0">
                <a:solidFill>
                  <a:schemeClr val="tx2"/>
                </a:solidFill>
              </a:rPr>
              <a:t>קין הביא „מִפְּרִי הָאֲדָמָה” (ד׳, ג׳)‏</a:t>
            </a:r>
            <a:endParaRPr lang="he-IL" sz="1400" dirty="0"/>
          </a:p>
          <a:p>
            <a:pPr rtl="1" algn="r" indent="0" marL="0">
              <a:spcAft>
                <a:spcPts val="800"/>
              </a:spcAft>
              <a:buNone/>
            </a:pPr>
            <a:r>
              <a:rPr lang="he-IL" altLang="en-US" sz="1400" dirty="0">
                <a:solidFill>
                  <a:schemeClr val="tx2"/>
                </a:solidFill>
              </a:rPr>
              <a:t>הבל הביא „מִבְּכֹרוֹת צֹאנוֹ וּמֵחֶלְבֵהֶן” (ד׳, ד׳)‏</a:t>
            </a:r>
            <a:endParaRPr lang="he-IL" sz="1400" dirty="0"/>
          </a:p>
          <a:p>
            <a:pPr rtl="1" algn="r" indent="0" marL="0">
              <a:spcAft>
                <a:spcPts val="800"/>
              </a:spcAft>
              <a:buNone/>
            </a:pPr>
            <a:r>
              <a:rPr lang="he-IL" altLang="en-US" sz="1400" dirty="0">
                <a:solidFill>
                  <a:schemeClr val="tx2"/>
                </a:solidFill>
              </a:rPr>
              <a:t>ה׳ שעה אל הבל ומנחתו — ואל קין לא (ד׳, ד׳–ה׳)‏</a:t>
            </a:r>
            <a:endParaRPr lang="he-IL" sz="1400" dirty="0"/>
          </a:p>
        </p:txBody>
      </p:sp>
      <p:sp>
        <p:nvSpPr>
          <p:cNvPr id="9" name="Interpretation card"/>
          <p:cNvSpPr/>
          <p:nvPr/>
        </p:nvSpPr>
        <p:spPr>
          <a:xfrm>
            <a:off x="3657600" y="1051560"/>
            <a:ext cx="2423160" cy="2743200"/>
          </a:xfrm>
          <a:prstGeom prst="roundRect">
            <a:avLst>
              <a:gd name="adj" fmla="val 3774"/>
            </a:avLst>
          </a:prstGeom>
          <a:solidFill>
            <a:srgbClr val="F7F2E6"/>
          </a:solidFill>
          <a:ln/>
        </p:spPr>
      </p:sp>
      <p:sp>
        <p:nvSpPr>
          <p:cNvPr id="10" name="Interpretation card circle"/>
          <p:cNvSpPr/>
          <p:nvPr/>
        </p:nvSpPr>
        <p:spPr>
          <a:xfrm>
            <a:off x="5532120" y="1188720"/>
            <a:ext cx="411480" cy="4114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1" name="Interpretation card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34990" y="1291590"/>
            <a:ext cx="205740" cy="20574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3794760" y="1188720"/>
            <a:ext cx="1664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1600" b="1" dirty="0">
                <a:solidFill>
                  <a:schemeClr val="tx2"/>
                </a:solidFill>
              </a:rPr>
              <a:t>פרשנויות אפשריות</a:t>
            </a:r>
            <a:endParaRPr lang="he-IL" sz="1600" dirty="0"/>
          </a:p>
        </p:txBody>
      </p:sp>
      <p:sp>
        <p:nvSpPr>
          <p:cNvPr id="13" name="Text 8"/>
          <p:cNvSpPr txBox="1"/>
          <p:nvPr/>
        </p:nvSpPr>
        <p:spPr>
          <a:xfrm>
            <a:off x="3794760" y="1737360"/>
            <a:ext cx="214884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spcAft>
                <a:spcPts val="800"/>
              </a:spcAft>
              <a:buNone/>
            </a:pPr>
            <a:r>
              <a:rPr lang="he-IL" altLang="en-US" sz="1400" dirty="0">
                <a:solidFill>
                  <a:schemeClr val="tx2"/>
                </a:solidFill>
              </a:rPr>
              <a:t>איכות: לפי רש״י, קין הביא „מן הגרוע” (רש״י ד׳, ג׳)‏</a:t>
            </a:r>
            <a:endParaRPr lang="he-IL" sz="1400" dirty="0"/>
          </a:p>
          <a:p>
            <a:pPr rtl="1" algn="r" indent="0" marL="0">
              <a:spcAft>
                <a:spcPts val="800"/>
              </a:spcAft>
              <a:buNone/>
            </a:pPr>
            <a:r>
              <a:rPr lang="he-IL" altLang="en-US" sz="1400" dirty="0">
                <a:solidFill>
                  <a:schemeClr val="tx2"/>
                </a:solidFill>
              </a:rPr>
              <a:t>הבל בחר במובחר — „בכורות” ו„חלב”‏</a:t>
            </a:r>
            <a:endParaRPr lang="he-IL" sz="1400" dirty="0"/>
          </a:p>
          <a:p>
            <a:pPr rtl="1" algn="r" indent="0" marL="0">
              <a:spcAft>
                <a:spcPts val="800"/>
              </a:spcAft>
              <a:buNone/>
            </a:pPr>
            <a:r>
              <a:rPr lang="he-IL" altLang="en-US" sz="1400" dirty="0">
                <a:solidFill>
                  <a:schemeClr val="tx2"/>
                </a:solidFill>
              </a:rPr>
              <a:t>הכוונה והלב שמאחורי הנתינה</a:t>
            </a:r>
            <a:endParaRPr lang="he-IL" sz="1400" dirty="0"/>
          </a:p>
        </p:txBody>
      </p:sp>
      <p:sp>
        <p:nvSpPr>
          <p:cNvPr id="14" name="Caution note"/>
          <p:cNvSpPr/>
          <p:nvPr/>
        </p:nvSpPr>
        <p:spPr>
          <a:xfrm>
            <a:off x="3657600" y="3977640"/>
            <a:ext cx="5029200" cy="658368"/>
          </a:xfrm>
          <a:prstGeom prst="roundRect">
            <a:avLst>
              <a:gd name="adj" fmla="val 11111"/>
            </a:avLst>
          </a:prstGeom>
          <a:solidFill>
            <a:schemeClr val="bg1"/>
          </a:solidFill>
          <a:ln w="15875">
            <a:solidFill>
              <a:schemeClr val="accent5"/>
            </a:solidFill>
            <a:prstDash val="solid"/>
          </a:ln>
        </p:spPr>
      </p:sp>
      <p:sp>
        <p:nvSpPr>
          <p:cNvPr id="15" name="Caution circle"/>
          <p:cNvSpPr/>
          <p:nvPr/>
        </p:nvSpPr>
        <p:spPr>
          <a:xfrm>
            <a:off x="8183880" y="4114800"/>
            <a:ext cx="384048" cy="384048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16" name="Caution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79892" y="4210812"/>
            <a:ext cx="192024" cy="192024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3794760" y="4005072"/>
            <a:ext cx="4297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1400" b="1" dirty="0">
                <a:solidFill>
                  <a:schemeClr val="tx2"/>
                </a:solidFill>
              </a:rPr>
              <a:t>המקרא אינו מסביר במפורש מדוע מנחת קין לא התקבלה — כל הסבר הוא פרשנות.‏</a:t>
            </a:r>
            <a:endParaRPr lang="he-IL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1500">
        <p15:prstTrans prst="pageCurlDouble" invX="1"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3000" b="1" dirty="0">
                <a:solidFill>
                  <a:schemeClr val="tx2"/>
                </a:solidFill>
              </a:rPr>
              <a:t>חטא ועונש: סיבה ותוצאה</a:t>
            </a:r>
            <a:endParaRPr lang="he-IL" sz="3000" dirty="0"/>
          </a:p>
        </p:txBody>
      </p:sp>
      <p:sp>
        <p:nvSpPr>
          <p:cNvPr id="3" name="Chain 1"/>
          <p:cNvSpPr/>
          <p:nvPr/>
        </p:nvSpPr>
        <p:spPr>
          <a:xfrm>
            <a:off x="4023360" y="1051560"/>
            <a:ext cx="4663440" cy="91440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/>
        </p:spPr>
      </p:sp>
      <p:sp>
        <p:nvSpPr>
          <p:cNvPr id="4" name="Chain 1 circle"/>
          <p:cNvSpPr/>
          <p:nvPr/>
        </p:nvSpPr>
        <p:spPr>
          <a:xfrm>
            <a:off x="8092440" y="1234440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5" name="Chain 1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0" y="137160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160520" y="1097280"/>
            <a:ext cx="3794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1500" b="1" dirty="0">
                <a:solidFill>
                  <a:schemeClr val="tx2"/>
                </a:solidFill>
              </a:rPr>
              <a:t>הסיבה: המעשה</a:t>
            </a:r>
            <a:endParaRPr lang="he-IL" sz="1500" dirty="0"/>
          </a:p>
          <a:p>
            <a:pPr rtl="1" algn="r" indent="0" marL="0">
              <a:buNone/>
            </a:pPr>
            <a:r>
              <a:rPr lang="he-IL" altLang="en-US" sz="1400" dirty="0">
                <a:solidFill>
                  <a:schemeClr val="tx2"/>
                </a:solidFill>
              </a:rPr>
              <a:t>קין קם על הבל אחיו</a:t>
            </a:r>
            <a:pPr rtl="1" algn="r" indent="0" marL="0">
              <a:buNone/>
            </a:pPr>
            <a:endParaRPr lang="he-IL" sz="1500" dirty="0"/>
          </a:p>
          <a:p>
            <a:pPr rtl="1" algn="r" indent="0" marL="0">
              <a:buNone/>
            </a:pPr>
            <a:r>
              <a:rPr lang="he-IL" altLang="en-US" sz="1100" dirty="0">
                <a:solidFill>
                  <a:schemeClr val="accent6"/>
                </a:solidFill>
              </a:rPr>
              <a:t>בראשית ד׳, ח׳</a:t>
            </a:r>
            <a:endParaRPr lang="he-IL" sz="1500" dirty="0"/>
          </a:p>
        </p:txBody>
      </p:sp>
      <p:sp>
        <p:nvSpPr>
          <p:cNvPr id="7" name="Chain arrow 1"/>
          <p:cNvSpPr/>
          <p:nvPr/>
        </p:nvSpPr>
        <p:spPr>
          <a:xfrm>
            <a:off x="6236208" y="2002536"/>
            <a:ext cx="237744" cy="219456"/>
          </a:xfrm>
          <a:prstGeom prst="downArrow">
            <a:avLst/>
          </a:prstGeom>
          <a:solidFill>
            <a:schemeClr val="accent1"/>
          </a:solidFill>
          <a:ln/>
        </p:spPr>
      </p:sp>
      <p:sp>
        <p:nvSpPr>
          <p:cNvPr id="8" name="Chain 2"/>
          <p:cNvSpPr/>
          <p:nvPr/>
        </p:nvSpPr>
        <p:spPr>
          <a:xfrm>
            <a:off x="4023360" y="2258568"/>
            <a:ext cx="4663440" cy="914400"/>
          </a:xfrm>
          <a:prstGeom prst="roundRect">
            <a:avLst>
              <a:gd name="adj" fmla="val 10000"/>
            </a:avLst>
          </a:prstGeom>
          <a:solidFill>
            <a:srgbClr val="F7F2E6"/>
          </a:solidFill>
          <a:ln/>
        </p:spPr>
      </p:sp>
      <p:sp>
        <p:nvSpPr>
          <p:cNvPr id="9" name="Chain 2 circle"/>
          <p:cNvSpPr/>
          <p:nvPr/>
        </p:nvSpPr>
        <p:spPr>
          <a:xfrm>
            <a:off x="8092440" y="2441448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Chain 2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2578608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160520" y="2304288"/>
            <a:ext cx="3794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1500" b="1" dirty="0">
                <a:solidFill>
                  <a:schemeClr val="tx2"/>
                </a:solidFill>
              </a:rPr>
              <a:t>העדות: הקול שאינו נשתק</a:t>
            </a:r>
            <a:endParaRPr lang="he-IL" sz="1500" dirty="0"/>
          </a:p>
          <a:p>
            <a:pPr rtl="1" algn="r" indent="0" marL="0">
              <a:buNone/>
            </a:pPr>
            <a:r>
              <a:rPr lang="he-IL" altLang="en-US" sz="1400" dirty="0">
                <a:solidFill>
                  <a:schemeClr val="tx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‏„קוֹל דְּמֵי אָחִיךָ צֹעֲקִים אֵלַי מִן־הָאֲדָמָה”‏</a:t>
            </a:r>
            <a:pPr rtl="1" algn="r" indent="0" marL="0">
              <a:buNone/>
            </a:pPr>
            <a:endParaRPr lang="he-IL" sz="1500" dirty="0"/>
          </a:p>
          <a:p>
            <a:pPr rtl="1" algn="r" indent="0" marL="0">
              <a:buNone/>
            </a:pPr>
            <a:r>
              <a:rPr lang="he-IL" altLang="en-US" sz="1100" dirty="0">
                <a:solidFill>
                  <a:schemeClr val="accent6"/>
                </a:solidFill>
              </a:rPr>
              <a:t>בראשית ד׳, י׳</a:t>
            </a:r>
            <a:endParaRPr lang="he-IL" sz="1500" dirty="0"/>
          </a:p>
        </p:txBody>
      </p:sp>
      <p:sp>
        <p:nvSpPr>
          <p:cNvPr id="12" name="Chain arrow 2"/>
          <p:cNvSpPr/>
          <p:nvPr/>
        </p:nvSpPr>
        <p:spPr>
          <a:xfrm>
            <a:off x="6236208" y="3209544"/>
            <a:ext cx="237744" cy="219456"/>
          </a:xfrm>
          <a:prstGeom prst="downArrow">
            <a:avLst/>
          </a:prstGeom>
          <a:solidFill>
            <a:schemeClr val="accent1"/>
          </a:solidFill>
          <a:ln/>
        </p:spPr>
      </p:sp>
      <p:sp>
        <p:nvSpPr>
          <p:cNvPr id="13" name="Chain 3"/>
          <p:cNvSpPr/>
          <p:nvPr/>
        </p:nvSpPr>
        <p:spPr>
          <a:xfrm>
            <a:off x="4023360" y="3465576"/>
            <a:ext cx="4663440" cy="914400"/>
          </a:xfrm>
          <a:prstGeom prst="roundRect">
            <a:avLst>
              <a:gd name="adj" fmla="val 10000"/>
            </a:avLst>
          </a:prstGeom>
          <a:solidFill>
            <a:srgbClr val="F7F2E6"/>
          </a:solidFill>
          <a:ln/>
        </p:spPr>
      </p:sp>
      <p:sp>
        <p:nvSpPr>
          <p:cNvPr id="14" name="Chain 3 circle"/>
          <p:cNvSpPr/>
          <p:nvPr/>
        </p:nvSpPr>
        <p:spPr>
          <a:xfrm>
            <a:off x="8092440" y="3648456"/>
            <a:ext cx="548640" cy="54864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5" name="Chain 3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3785616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4160520" y="3511296"/>
            <a:ext cx="3794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1500" b="1" dirty="0">
                <a:solidFill>
                  <a:schemeClr val="tx2"/>
                </a:solidFill>
              </a:rPr>
              <a:t>התוצאה: העונש</a:t>
            </a:r>
            <a:endParaRPr lang="he-IL" sz="1500" dirty="0"/>
          </a:p>
          <a:p>
            <a:pPr rtl="1" algn="r" indent="0" marL="0">
              <a:buNone/>
            </a:pPr>
            <a:r>
              <a:rPr lang="he-IL" altLang="en-US" sz="1400" dirty="0">
                <a:solidFill>
                  <a:schemeClr val="tx2"/>
                </a:solidFill>
              </a:rPr>
              <a:t>האדמה לא תיתן כוחה, וקין יהיה „‏</a:t>
            </a:r>
            <a:pPr rtl="1" algn="r" indent="0" marL="0">
              <a:buNone/>
            </a:pPr>
            <a:r>
              <a:rPr lang="he-IL" altLang="en-US" sz="1400" b="1" dirty="0">
                <a:solidFill>
                  <a:schemeClr val="tx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נָע וָנָד</a:t>
            </a:r>
            <a:pPr rtl="1" algn="r" indent="0" marL="0">
              <a:buNone/>
            </a:pPr>
            <a:r>
              <a:rPr lang="he-IL" altLang="en-US" sz="1400" dirty="0">
                <a:solidFill>
                  <a:schemeClr val="tx2"/>
                </a:solidFill>
              </a:rPr>
              <a:t>‏”‏</a:t>
            </a:r>
            <a:pPr rtl="1" algn="r" indent="0" marL="0">
              <a:buNone/>
            </a:pPr>
            <a:endParaRPr lang="he-IL" sz="1500" dirty="0"/>
          </a:p>
          <a:p>
            <a:pPr rtl="1" algn="r" indent="0" marL="0">
              <a:buNone/>
            </a:pPr>
            <a:r>
              <a:rPr lang="he-IL" altLang="en-US" sz="1100" dirty="0">
                <a:solidFill>
                  <a:schemeClr val="accent6"/>
                </a:solidFill>
              </a:rPr>
              <a:t>בראשית ד׳, י״ב</a:t>
            </a:r>
            <a:endParaRPr lang="he-IL" sz="1500" dirty="0"/>
          </a:p>
        </p:txBody>
      </p:sp>
      <p:pic>
        <p:nvPicPr>
          <p:cNvPr id="17" name="Illustration" descr="איור: אדם בודד הולך בדרך מתפתלת בין דיונות בשעת דמדומים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051560"/>
            <a:ext cx="3291840" cy="2240280"/>
          </a:xfrm>
          <a:prstGeom prst="rect">
            <a:avLst/>
          </a:prstGeom>
        </p:spPr>
      </p:pic>
      <p:sp>
        <p:nvSpPr>
          <p:cNvPr id="18" name="Recognition box"/>
          <p:cNvSpPr/>
          <p:nvPr/>
        </p:nvSpPr>
        <p:spPr>
          <a:xfrm>
            <a:off x="457200" y="3474720"/>
            <a:ext cx="3291840" cy="1161288"/>
          </a:xfrm>
          <a:prstGeom prst="roundRect">
            <a:avLst>
              <a:gd name="adj" fmla="val 7874"/>
            </a:avLst>
          </a:prstGeom>
          <a:solidFill>
            <a:schemeClr val="tx2"/>
          </a:solidFill>
          <a:ln/>
        </p:spPr>
      </p:sp>
      <p:sp>
        <p:nvSpPr>
          <p:cNvPr id="19" name="Text 13"/>
          <p:cNvSpPr txBox="1"/>
          <p:nvPr/>
        </p:nvSpPr>
        <p:spPr>
          <a:xfrm>
            <a:off x="594360" y="3520440"/>
            <a:ext cx="301752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spcAft>
                <a:spcPts val="400"/>
              </a:spcAft>
              <a:buNone/>
            </a:pPr>
            <a:r>
              <a:rPr lang="he-IL" altLang="en-US" sz="1500" b="1" dirty="0">
                <a:solidFill>
                  <a:schemeClr val="accent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‏„גָּדוֹל עֲוֹנִי מִנְּשֹׂא” (ד׳, י״ג)‏</a:t>
            </a:r>
            <a:endParaRPr lang="he-IL" sz="1500" dirty="0"/>
          </a:p>
          <a:p>
            <a:pPr rtl="1" algn="r" indent="0" marL="0">
              <a:spcAft>
                <a:spcPts val="400"/>
              </a:spcAft>
              <a:buNone/>
            </a:pPr>
            <a:r>
              <a:rPr lang="he-IL" altLang="en-US" sz="1300" dirty="0">
                <a:solidFill>
                  <a:schemeClr val="bg1"/>
                </a:solidFill>
              </a:rPr>
              <a:t>קין מכיר בכובד המעשה — וה׳ שם לו אות להגנה (ד׳, ט״ו)‏</a:t>
            </a:r>
            <a:endParaRPr lang="he-IL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1500">
        <p15:prstTrans prst="pageCurlDouble" invX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3000" b="1" dirty="0">
                <a:solidFill>
                  <a:schemeClr val="tx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‏„הֲשֹׁמֵר אָחִי אָנֹכִי?”‏</a:t>
            </a:r>
            <a:endParaRPr lang="he-IL" sz="3000" dirty="0"/>
          </a:p>
        </p:txBody>
      </p:sp>
      <p:pic>
        <p:nvPicPr>
          <p:cNvPr id="3" name="Illustration" descr="איור: אדם מושיט יד לעזרה לאדם אחר היושב על הקרקע, באור זריחה חם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77840" y="1051560"/>
            <a:ext cx="3108960" cy="360273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105156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500" dirty="0">
                <a:solidFill>
                  <a:schemeClr val="tx2"/>
                </a:solidFill>
              </a:rPr>
              <a:t>קין עונה בשאלה — כאילו אין לו קשר לאחיו (בראשית ד׳, ט׳).‏</a:t>
            </a:r>
            <a:endParaRPr lang="he-IL" sz="1500" dirty="0"/>
          </a:p>
          <a:p>
            <a:pPr rtl="1" algn="r" indent="0" marL="0">
              <a:buNone/>
            </a:pPr>
            <a:r>
              <a:rPr lang="he-IL" altLang="en-US" sz="1500" b="1" dirty="0">
                <a:solidFill>
                  <a:schemeClr val="tx2"/>
                </a:solidFill>
              </a:rPr>
              <a:t>התורה מלמדת את ההפך: אנחנו קשורים זה לזה.‏</a:t>
            </a:r>
            <a:endParaRPr lang="he-IL" sz="1500" dirty="0"/>
          </a:p>
        </p:txBody>
      </p:sp>
      <p:sp>
        <p:nvSpPr>
          <p:cNvPr id="5" name="Responsibility 1"/>
          <p:cNvSpPr/>
          <p:nvPr/>
        </p:nvSpPr>
        <p:spPr>
          <a:xfrm>
            <a:off x="3840480" y="1874520"/>
            <a:ext cx="1463040" cy="1645920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/>
        </p:spPr>
      </p:sp>
      <p:sp>
        <p:nvSpPr>
          <p:cNvPr id="6" name="Responsibility 1 circle"/>
          <p:cNvSpPr/>
          <p:nvPr/>
        </p:nvSpPr>
        <p:spPr>
          <a:xfrm>
            <a:off x="4297680" y="1993392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7" name="Responsibility 1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4840" y="2130552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3886200" y="260604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he-IL" altLang="en-US" sz="1500" b="1" dirty="0">
                <a:solidFill>
                  <a:schemeClr val="tx2"/>
                </a:solidFill>
              </a:rPr>
              <a:t>כלפי האחר</a:t>
            </a:r>
            <a:endParaRPr lang="he-IL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3913632" y="2926080"/>
            <a:ext cx="131673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he-IL" altLang="en-US" sz="1200" dirty="0">
                <a:solidFill>
                  <a:schemeClr val="tx2"/>
                </a:solidFill>
              </a:rPr>
              <a:t>לא לעבור בשתיקה מול פגיעה</a:t>
            </a:r>
            <a:endParaRPr lang="he-IL" sz="1200" dirty="0"/>
          </a:p>
        </p:txBody>
      </p:sp>
      <p:sp>
        <p:nvSpPr>
          <p:cNvPr id="10" name="Responsibility 2"/>
          <p:cNvSpPr/>
          <p:nvPr/>
        </p:nvSpPr>
        <p:spPr>
          <a:xfrm>
            <a:off x="2148840" y="1874520"/>
            <a:ext cx="1463040" cy="1645920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/>
        </p:spPr>
      </p:sp>
      <p:sp>
        <p:nvSpPr>
          <p:cNvPr id="11" name="Responsibility 2 circle"/>
          <p:cNvSpPr/>
          <p:nvPr/>
        </p:nvSpPr>
        <p:spPr>
          <a:xfrm>
            <a:off x="2606040" y="1993392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2" name="Responsibility 2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0" y="2130552"/>
            <a:ext cx="274320" cy="2743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2194560" y="260604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he-IL" altLang="en-US" sz="1500" b="1" dirty="0">
                <a:solidFill>
                  <a:schemeClr val="tx2"/>
                </a:solidFill>
              </a:rPr>
              <a:t>כלפי הקרוב</a:t>
            </a:r>
            <a:endParaRPr lang="he-IL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2221992" y="2926080"/>
            <a:ext cx="131673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he-IL" altLang="en-US" sz="1200" dirty="0">
                <a:solidFill>
                  <a:schemeClr val="tx2"/>
                </a:solidFill>
              </a:rPr>
              <a:t>לשים לב למי שנמצא לידי</a:t>
            </a:r>
            <a:endParaRPr lang="he-IL" sz="1200" dirty="0"/>
          </a:p>
        </p:txBody>
      </p:sp>
      <p:sp>
        <p:nvSpPr>
          <p:cNvPr id="15" name="Responsibility 3"/>
          <p:cNvSpPr/>
          <p:nvPr/>
        </p:nvSpPr>
        <p:spPr>
          <a:xfrm>
            <a:off x="457200" y="1874520"/>
            <a:ext cx="1463040" cy="1645920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/>
        </p:spPr>
      </p:sp>
      <p:sp>
        <p:nvSpPr>
          <p:cNvPr id="16" name="Responsibility 3 circle"/>
          <p:cNvSpPr/>
          <p:nvPr/>
        </p:nvSpPr>
        <p:spPr>
          <a:xfrm>
            <a:off x="914400" y="1993392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7" name="Responsibility 3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1560" y="2130552"/>
            <a:ext cx="274320" cy="27432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502920" y="260604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he-IL" altLang="en-US" sz="1500" b="1" dirty="0">
                <a:solidFill>
                  <a:schemeClr val="tx2"/>
                </a:solidFill>
              </a:rPr>
              <a:t>כלפי החברה</a:t>
            </a:r>
            <a:endParaRPr lang="he-IL" sz="1500" dirty="0"/>
          </a:p>
        </p:txBody>
      </p:sp>
      <p:sp>
        <p:nvSpPr>
          <p:cNvPr id="19" name="Text 13"/>
          <p:cNvSpPr txBox="1"/>
          <p:nvPr/>
        </p:nvSpPr>
        <p:spPr>
          <a:xfrm>
            <a:off x="530352" y="2926080"/>
            <a:ext cx="131673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he-IL" altLang="en-US" sz="1200" dirty="0">
                <a:solidFill>
                  <a:schemeClr val="tx2"/>
                </a:solidFill>
              </a:rPr>
              <a:t>ליצור מקום בטוח לכולם</a:t>
            </a:r>
            <a:endParaRPr lang="he-IL" sz="1200" dirty="0"/>
          </a:p>
        </p:txBody>
      </p:sp>
      <p:sp>
        <p:nvSpPr>
          <p:cNvPr id="20" name="Message banner"/>
          <p:cNvSpPr/>
          <p:nvPr/>
        </p:nvSpPr>
        <p:spPr>
          <a:xfrm>
            <a:off x="457200" y="3703320"/>
            <a:ext cx="4846320" cy="914400"/>
          </a:xfrm>
          <a:prstGeom prst="roundRect">
            <a:avLst>
              <a:gd name="adj" fmla="val 12000"/>
            </a:avLst>
          </a:prstGeom>
          <a:solidFill>
            <a:schemeClr val="tx2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21" name="Text 15"/>
          <p:cNvSpPr txBox="1"/>
          <p:nvPr/>
        </p:nvSpPr>
        <p:spPr>
          <a:xfrm>
            <a:off x="548640" y="3703320"/>
            <a:ext cx="4663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he-IL" altLang="en-US" sz="2000" b="1" dirty="0">
                <a:solidFill>
                  <a:schemeClr val="accent1"/>
                </a:solidFill>
              </a:rPr>
              <a:t>כן — ‏</a:t>
            </a:r>
            <a:pPr rtl="1" algn="ctr" indent="0" marL="0">
              <a:buNone/>
            </a:pPr>
            <a:r>
              <a:rPr lang="he-IL" altLang="en-US" sz="2000" b="1" dirty="0">
                <a:solidFill>
                  <a:schemeClr val="bg1"/>
                </a:solidFill>
              </a:rPr>
              <a:t>יש לנו אחריות לא להתעלם מפגיעה.‏</a:t>
            </a:r>
            <a:endParaRPr lang="he-IL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1500">
        <p15:prstTrans prst="pageCurlDouble" invX="1"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3000" b="1" dirty="0">
                <a:solidFill>
                  <a:schemeClr val="tx2"/>
                </a:solidFill>
              </a:rPr>
              <a:t>לקיחת אחריות: להודות ולא לברוח</a:t>
            </a:r>
            <a:endParaRPr lang="he-IL" sz="3000" dirty="0"/>
          </a:p>
        </p:txBody>
      </p:sp>
      <p:pic>
        <p:nvPicPr>
          <p:cNvPr id="3" name="Illustration" descr="איור: אדם עומד מול מראה ורואה את עצמו — סמל להתמודדות עם המעשה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51560"/>
            <a:ext cx="2560320" cy="3611880"/>
          </a:xfrm>
          <a:prstGeom prst="rect">
            <a:avLst/>
          </a:prstGeom>
        </p:spPr>
      </p:pic>
      <p:sp>
        <p:nvSpPr>
          <p:cNvPr id="4" name="Escaping card"/>
          <p:cNvSpPr/>
          <p:nvPr/>
        </p:nvSpPr>
        <p:spPr>
          <a:xfrm>
            <a:off x="6080760" y="1051560"/>
            <a:ext cx="2606040" cy="1874520"/>
          </a:xfrm>
          <a:prstGeom prst="roundRect">
            <a:avLst>
              <a:gd name="adj" fmla="val 4878"/>
            </a:avLst>
          </a:prstGeom>
          <a:solidFill>
            <a:schemeClr val="bg2"/>
          </a:solidFill>
          <a:ln/>
        </p:spPr>
      </p:sp>
      <p:sp>
        <p:nvSpPr>
          <p:cNvPr id="5" name="Escaping card circle"/>
          <p:cNvSpPr/>
          <p:nvPr/>
        </p:nvSpPr>
        <p:spPr>
          <a:xfrm>
            <a:off x="8183880" y="1161288"/>
            <a:ext cx="384048" cy="384048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6" name="Escaping card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9892" y="1257300"/>
            <a:ext cx="192024" cy="192024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217920" y="1161288"/>
            <a:ext cx="19019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1600" b="1" dirty="0">
                <a:solidFill>
                  <a:schemeClr val="tx2"/>
                </a:solidFill>
              </a:rPr>
              <a:t>בורחים מאחריות</a:t>
            </a:r>
            <a:endParaRPr lang="he-IL" sz="1600" dirty="0"/>
          </a:p>
        </p:txBody>
      </p:sp>
      <p:sp>
        <p:nvSpPr>
          <p:cNvPr id="8" name="Text 4"/>
          <p:cNvSpPr txBox="1"/>
          <p:nvPr/>
        </p:nvSpPr>
        <p:spPr>
          <a:xfrm>
            <a:off x="6217920" y="1627632"/>
            <a:ext cx="2331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spcAft>
                <a:spcPts val="400"/>
              </a:spcAft>
              <a:buNone/>
            </a:pPr>
            <a:r>
              <a:rPr lang="he-IL" altLang="en-US" sz="1400" b="1" dirty="0">
                <a:solidFill>
                  <a:schemeClr val="tx2"/>
                </a:solidFill>
              </a:rPr>
              <a:t>קין: ‏</a:t>
            </a:r>
            <a:pPr rtl="1" algn="r" indent="0" marL="0">
              <a:spcAft>
                <a:spcPts val="400"/>
              </a:spcAft>
              <a:buNone/>
            </a:pPr>
            <a:r>
              <a:rPr lang="he-IL" altLang="en-US" sz="1400" dirty="0">
                <a:solidFill>
                  <a:schemeClr val="tx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‏„לֹא יָדַעְתִּי”‏</a:t>
            </a:r>
            <a:endParaRPr lang="he-IL" sz="1400" dirty="0"/>
          </a:p>
          <a:p>
            <a:pPr rtl="1" algn="r" indent="0" marL="0">
              <a:spcAft>
                <a:spcPts val="400"/>
              </a:spcAft>
              <a:buNone/>
            </a:pPr>
            <a:r>
              <a:rPr lang="he-IL" altLang="en-US" sz="1400" b="1" dirty="0">
                <a:solidFill>
                  <a:schemeClr val="tx2"/>
                </a:solidFill>
              </a:rPr>
              <a:t>קין במדרש: ‏</a:t>
            </a:r>
            <a:pPr rtl="1" algn="r" indent="0" marL="0">
              <a:spcAft>
                <a:spcPts val="400"/>
              </a:spcAft>
              <a:buNone/>
            </a:pPr>
            <a:r>
              <a:rPr lang="he-IL" altLang="en-US" sz="1400" dirty="0">
                <a:solidFill>
                  <a:schemeClr val="tx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‏„בָּרָאתָ בִּי יֵצֶר הָרָע”‏</a:t>
            </a:r>
            <a:endParaRPr lang="he-IL" sz="1400" dirty="0"/>
          </a:p>
          <a:p>
            <a:pPr rtl="1" algn="r" indent="0" marL="0">
              <a:spcAft>
                <a:spcPts val="400"/>
              </a:spcAft>
              <a:buNone/>
            </a:pPr>
            <a:r>
              <a:rPr lang="he-IL" altLang="en-US" sz="1400" b="1" dirty="0">
                <a:solidFill>
                  <a:schemeClr val="tx2"/>
                </a:solidFill>
              </a:rPr>
              <a:t>אדם: ‏</a:t>
            </a:r>
            <a:pPr rtl="1" algn="r" indent="0" marL="0">
              <a:spcAft>
                <a:spcPts val="400"/>
              </a:spcAft>
              <a:buNone/>
            </a:pPr>
            <a:r>
              <a:rPr lang="he-IL" altLang="en-US" sz="1400" dirty="0">
                <a:solidFill>
                  <a:schemeClr val="tx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‏„הָאִשָּׁה אֲשֶׁר נָתַתָּה עִמָּדִי”‏</a:t>
            </a:r>
            <a:endParaRPr lang="he-IL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6217920" y="2651760"/>
            <a:ext cx="2331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1000" dirty="0">
                <a:solidFill>
                  <a:schemeClr val="accent6"/>
                </a:solidFill>
              </a:rPr>
              <a:t>בראשית ד׳ ט׳ · תנחומא בראשית ט׳ · בראשית ג׳ י״ב</a:t>
            </a:r>
            <a:endParaRPr lang="he-IL" sz="1000" dirty="0"/>
          </a:p>
        </p:txBody>
      </p:sp>
      <p:sp>
        <p:nvSpPr>
          <p:cNvPr id="10" name="Owning card"/>
          <p:cNvSpPr/>
          <p:nvPr/>
        </p:nvSpPr>
        <p:spPr>
          <a:xfrm>
            <a:off x="3291840" y="1051560"/>
            <a:ext cx="2606040" cy="1874520"/>
          </a:xfrm>
          <a:prstGeom prst="roundRect">
            <a:avLst>
              <a:gd name="adj" fmla="val 4878"/>
            </a:avLst>
          </a:prstGeom>
          <a:solidFill>
            <a:srgbClr val="F7F2E6"/>
          </a:solidFill>
          <a:ln/>
        </p:spPr>
      </p:sp>
      <p:sp>
        <p:nvSpPr>
          <p:cNvPr id="11" name="Owning card circle"/>
          <p:cNvSpPr/>
          <p:nvPr/>
        </p:nvSpPr>
        <p:spPr>
          <a:xfrm>
            <a:off x="5394960" y="1161288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2" name="Owning card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90972" y="1257300"/>
            <a:ext cx="192024" cy="19202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429000" y="1161288"/>
            <a:ext cx="19019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1600" b="1" dirty="0">
                <a:solidFill>
                  <a:schemeClr val="tx2"/>
                </a:solidFill>
              </a:rPr>
              <a:t>לוקחים אחריות</a:t>
            </a:r>
            <a:endParaRPr lang="he-IL" sz="1600" dirty="0"/>
          </a:p>
        </p:txBody>
      </p:sp>
      <p:sp>
        <p:nvSpPr>
          <p:cNvPr id="14" name="Text 9"/>
          <p:cNvSpPr txBox="1"/>
          <p:nvPr/>
        </p:nvSpPr>
        <p:spPr>
          <a:xfrm>
            <a:off x="3429000" y="1627632"/>
            <a:ext cx="2331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spcAft>
                <a:spcPts val="400"/>
              </a:spcAft>
              <a:buNone/>
            </a:pPr>
            <a:r>
              <a:rPr lang="he-IL" altLang="en-US" sz="1400" b="1" dirty="0">
                <a:solidFill>
                  <a:schemeClr val="tx2"/>
                </a:solidFill>
              </a:rPr>
              <a:t>יהודה: ‏</a:t>
            </a:r>
            <a:pPr rtl="1" algn="r" indent="0" marL="0">
              <a:spcAft>
                <a:spcPts val="400"/>
              </a:spcAft>
              <a:buNone/>
            </a:pPr>
            <a:r>
              <a:rPr lang="he-IL" altLang="en-US" sz="1400" dirty="0">
                <a:solidFill>
                  <a:schemeClr val="tx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‏„צָדְקָה מִמֶּנִּי”‏</a:t>
            </a:r>
            <a:endParaRPr lang="he-IL" sz="1400" dirty="0"/>
          </a:p>
          <a:p>
            <a:pPr rtl="1" algn="r" indent="0" marL="0">
              <a:spcAft>
                <a:spcPts val="400"/>
              </a:spcAft>
              <a:buNone/>
            </a:pPr>
            <a:r>
              <a:rPr lang="he-IL" altLang="en-US" sz="1400" b="1" dirty="0">
                <a:solidFill>
                  <a:schemeClr val="tx2"/>
                </a:solidFill>
              </a:rPr>
              <a:t>דוד: ‏</a:t>
            </a:r>
            <a:pPr rtl="1" algn="r" indent="0" marL="0">
              <a:spcAft>
                <a:spcPts val="400"/>
              </a:spcAft>
              <a:buNone/>
            </a:pPr>
            <a:r>
              <a:rPr lang="he-IL" altLang="en-US" sz="1400" dirty="0">
                <a:solidFill>
                  <a:schemeClr val="tx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‏„חָטָאתִי לַה׳”‏</a:t>
            </a:r>
            <a:endParaRPr lang="he-IL" sz="1400" dirty="0"/>
          </a:p>
          <a:p>
            <a:pPr rtl="1" algn="r" indent="0" marL="0">
              <a:spcAft>
                <a:spcPts val="400"/>
              </a:spcAft>
              <a:buNone/>
            </a:pPr>
            <a:r>
              <a:rPr lang="he-IL" altLang="en-US" sz="1400" b="1" dirty="0">
                <a:solidFill>
                  <a:schemeClr val="tx2"/>
                </a:solidFill>
              </a:rPr>
              <a:t>קין בסוף: ‏</a:t>
            </a:r>
            <a:pPr rtl="1" algn="r" indent="0" marL="0">
              <a:spcAft>
                <a:spcPts val="400"/>
              </a:spcAft>
              <a:buNone/>
            </a:pPr>
            <a:r>
              <a:rPr lang="he-IL" altLang="en-US" sz="1400" dirty="0">
                <a:solidFill>
                  <a:schemeClr val="tx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‏„גָּדוֹל עֲוֹנִי מִנְּשֹׂא”‏</a:t>
            </a:r>
            <a:endParaRPr lang="he-IL" sz="1400" dirty="0"/>
          </a:p>
        </p:txBody>
      </p:sp>
      <p:sp>
        <p:nvSpPr>
          <p:cNvPr id="15" name="Text 10"/>
          <p:cNvSpPr txBox="1"/>
          <p:nvPr/>
        </p:nvSpPr>
        <p:spPr>
          <a:xfrm>
            <a:off x="3429000" y="2651760"/>
            <a:ext cx="2331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1000" dirty="0">
                <a:solidFill>
                  <a:schemeClr val="accent6"/>
                </a:solidFill>
              </a:rPr>
              <a:t>בראשית ל״ח כ״ו · שמואל ב׳ י״ב י״ג · בראשית ד׳ י״ג</a:t>
            </a:r>
            <a:endParaRPr lang="he-IL" sz="1000" dirty="0"/>
          </a:p>
        </p:txBody>
      </p:sp>
      <p:sp>
        <p:nvSpPr>
          <p:cNvPr id="16" name="Text 11"/>
          <p:cNvSpPr txBox="1"/>
          <p:nvPr/>
        </p:nvSpPr>
        <p:spPr>
          <a:xfrm>
            <a:off x="3291840" y="3035808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1200" b="1" dirty="0">
                <a:solidFill>
                  <a:schemeClr val="accent1"/>
                </a:solidFill>
              </a:rPr>
              <a:t>שלושה צעדים, לפי הרמב״ם (הלכות תשובה א׳, א׳)‏</a:t>
            </a:r>
            <a:endParaRPr lang="he-IL" sz="1200" dirty="0"/>
          </a:p>
        </p:txBody>
      </p:sp>
      <p:sp>
        <p:nvSpPr>
          <p:cNvPr id="17" name="Step 1"/>
          <p:cNvSpPr/>
          <p:nvPr/>
        </p:nvSpPr>
        <p:spPr>
          <a:xfrm>
            <a:off x="6949440" y="3364992"/>
            <a:ext cx="1737360" cy="1280160"/>
          </a:xfrm>
          <a:prstGeom prst="roundRect">
            <a:avLst>
              <a:gd name="adj" fmla="val 7143"/>
            </a:avLst>
          </a:prstGeom>
          <a:solidFill>
            <a:schemeClr val="tx2"/>
          </a:solidFill>
          <a:ln/>
        </p:spPr>
      </p:sp>
      <p:sp>
        <p:nvSpPr>
          <p:cNvPr id="18" name="Step 1 badge"/>
          <p:cNvSpPr/>
          <p:nvPr/>
        </p:nvSpPr>
        <p:spPr>
          <a:xfrm>
            <a:off x="7635240" y="3456432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9" name="Text 14"/>
          <p:cNvSpPr txBox="1"/>
          <p:nvPr/>
        </p:nvSpPr>
        <p:spPr>
          <a:xfrm>
            <a:off x="7635240" y="34564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he-IL" altLang="en-US" sz="1300" b="1" dirty="0">
                <a:solidFill>
                  <a:schemeClr val="tx2"/>
                </a:solidFill>
              </a:rPr>
              <a:t>‏1‏</a:t>
            </a:r>
            <a:endParaRPr lang="he-IL" sz="1300" dirty="0"/>
          </a:p>
        </p:txBody>
      </p:sp>
      <p:sp>
        <p:nvSpPr>
          <p:cNvPr id="20" name="Text 15"/>
          <p:cNvSpPr txBox="1"/>
          <p:nvPr/>
        </p:nvSpPr>
        <p:spPr>
          <a:xfrm>
            <a:off x="6995160" y="3858768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he-IL" altLang="en-US" sz="1600" b="1" dirty="0">
                <a:solidFill>
                  <a:schemeClr val="bg1"/>
                </a:solidFill>
              </a:rPr>
              <a:t>להודות</a:t>
            </a:r>
            <a:endParaRPr lang="he-IL" sz="1600" dirty="0"/>
          </a:p>
        </p:txBody>
      </p:sp>
      <p:sp>
        <p:nvSpPr>
          <p:cNvPr id="21" name="Text 16"/>
          <p:cNvSpPr txBox="1"/>
          <p:nvPr/>
        </p:nvSpPr>
        <p:spPr>
          <a:xfrm>
            <a:off x="7022592" y="4187952"/>
            <a:ext cx="15910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he-IL" altLang="en-US" sz="1100" dirty="0">
                <a:solidFill>
                  <a:schemeClr val="accent3"/>
                </a:solidFill>
              </a:rPr>
              <a:t>לומר מה עשיתי, בלי תירוצים</a:t>
            </a:r>
            <a:endParaRPr lang="he-IL" sz="1100" dirty="0"/>
          </a:p>
        </p:txBody>
      </p:sp>
      <p:sp>
        <p:nvSpPr>
          <p:cNvPr id="22" name="Step 2"/>
          <p:cNvSpPr/>
          <p:nvPr/>
        </p:nvSpPr>
        <p:spPr>
          <a:xfrm>
            <a:off x="5120640" y="3364992"/>
            <a:ext cx="1737360" cy="1280160"/>
          </a:xfrm>
          <a:prstGeom prst="roundRect">
            <a:avLst>
              <a:gd name="adj" fmla="val 7143"/>
            </a:avLst>
          </a:prstGeom>
          <a:solidFill>
            <a:schemeClr val="tx2"/>
          </a:solidFill>
          <a:ln/>
        </p:spPr>
      </p:sp>
      <p:sp>
        <p:nvSpPr>
          <p:cNvPr id="23" name="Step 2 badge"/>
          <p:cNvSpPr/>
          <p:nvPr/>
        </p:nvSpPr>
        <p:spPr>
          <a:xfrm>
            <a:off x="5806440" y="3456432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4" name="Text 19"/>
          <p:cNvSpPr txBox="1"/>
          <p:nvPr/>
        </p:nvSpPr>
        <p:spPr>
          <a:xfrm>
            <a:off x="5806440" y="34564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he-IL" altLang="en-US" sz="1300" b="1" dirty="0">
                <a:solidFill>
                  <a:schemeClr val="tx2"/>
                </a:solidFill>
              </a:rPr>
              <a:t>‏2‏</a:t>
            </a:r>
            <a:endParaRPr lang="he-IL" sz="1300" dirty="0"/>
          </a:p>
        </p:txBody>
      </p:sp>
      <p:sp>
        <p:nvSpPr>
          <p:cNvPr id="25" name="Text 20"/>
          <p:cNvSpPr txBox="1"/>
          <p:nvPr/>
        </p:nvSpPr>
        <p:spPr>
          <a:xfrm>
            <a:off x="5166360" y="3858768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he-IL" altLang="en-US" sz="1600" b="1" dirty="0">
                <a:solidFill>
                  <a:schemeClr val="bg1"/>
                </a:solidFill>
              </a:rPr>
              <a:t>להתחרט</a:t>
            </a:r>
            <a:endParaRPr lang="he-IL" sz="1600" dirty="0"/>
          </a:p>
        </p:txBody>
      </p:sp>
      <p:sp>
        <p:nvSpPr>
          <p:cNvPr id="26" name="Text 21"/>
          <p:cNvSpPr txBox="1"/>
          <p:nvPr/>
        </p:nvSpPr>
        <p:spPr>
          <a:xfrm>
            <a:off x="5193792" y="4187952"/>
            <a:ext cx="15910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he-IL" altLang="en-US" sz="1100" dirty="0">
                <a:solidFill>
                  <a:schemeClr val="accent3"/>
                </a:solidFill>
              </a:rPr>
              <a:t>להרגיש צער על הפגיעה</a:t>
            </a:r>
            <a:endParaRPr lang="he-IL" sz="1100" dirty="0"/>
          </a:p>
        </p:txBody>
      </p:sp>
      <p:sp>
        <p:nvSpPr>
          <p:cNvPr id="27" name="Step 3"/>
          <p:cNvSpPr/>
          <p:nvPr/>
        </p:nvSpPr>
        <p:spPr>
          <a:xfrm>
            <a:off x="3291840" y="3364992"/>
            <a:ext cx="1737360" cy="1280160"/>
          </a:xfrm>
          <a:prstGeom prst="roundRect">
            <a:avLst>
              <a:gd name="adj" fmla="val 7143"/>
            </a:avLst>
          </a:prstGeom>
          <a:solidFill>
            <a:schemeClr val="tx2"/>
          </a:solidFill>
          <a:ln/>
        </p:spPr>
      </p:sp>
      <p:sp>
        <p:nvSpPr>
          <p:cNvPr id="28" name="Step 3 badge"/>
          <p:cNvSpPr/>
          <p:nvPr/>
        </p:nvSpPr>
        <p:spPr>
          <a:xfrm>
            <a:off x="3977640" y="3456432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9" name="Text 24"/>
          <p:cNvSpPr txBox="1"/>
          <p:nvPr/>
        </p:nvSpPr>
        <p:spPr>
          <a:xfrm>
            <a:off x="3977640" y="34564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he-IL" altLang="en-US" sz="1300" b="1" dirty="0">
                <a:solidFill>
                  <a:schemeClr val="tx2"/>
                </a:solidFill>
              </a:rPr>
              <a:t>‏3‏</a:t>
            </a:r>
            <a:endParaRPr lang="he-IL" sz="1300" dirty="0"/>
          </a:p>
        </p:txBody>
      </p:sp>
      <p:sp>
        <p:nvSpPr>
          <p:cNvPr id="30" name="Text 25"/>
          <p:cNvSpPr txBox="1"/>
          <p:nvPr/>
        </p:nvSpPr>
        <p:spPr>
          <a:xfrm>
            <a:off x="3337560" y="3858768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he-IL" altLang="en-US" sz="1600" b="1" dirty="0">
                <a:solidFill>
                  <a:schemeClr val="bg1"/>
                </a:solidFill>
              </a:rPr>
              <a:t>לתקן</a:t>
            </a:r>
            <a:endParaRPr lang="he-IL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3364992" y="4187952"/>
            <a:ext cx="15910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he-IL" altLang="en-US" sz="1100" dirty="0">
                <a:solidFill>
                  <a:schemeClr val="accent3"/>
                </a:solidFill>
              </a:rPr>
              <a:t>ולהתחייב שזה לא יחזור</a:t>
            </a:r>
            <a:endParaRPr lang="he-IL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1500">
        <p15:prstTrans prst="pageCurlDouble" invX="1"/>
      </p:transition>
    </mc:Choice>
    <mc:Fallback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3000" b="1" dirty="0">
                <a:solidFill>
                  <a:schemeClr val="tx2"/>
                </a:solidFill>
              </a:rPr>
              <a:t>פעילות בונוס לכיתה</a:t>
            </a:r>
            <a:endParaRPr lang="he-IL" sz="3000" dirty="0"/>
          </a:p>
        </p:txBody>
      </p:sp>
      <p:pic>
        <p:nvPicPr>
          <p:cNvPr id="3" name="Illustration" descr="איור: תלמידים יושבים מול לוח ומשוחחים, עם בועות דיבור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51560"/>
            <a:ext cx="2926080" cy="1828800"/>
          </a:xfrm>
          <a:prstGeom prst="rect">
            <a:avLst/>
          </a:prstGeom>
        </p:spPr>
      </p:pic>
      <p:sp>
        <p:nvSpPr>
          <p:cNvPr id="4" name="Scenario box"/>
          <p:cNvSpPr/>
          <p:nvPr/>
        </p:nvSpPr>
        <p:spPr>
          <a:xfrm>
            <a:off x="3657600" y="1051560"/>
            <a:ext cx="5029200" cy="68580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3794760" y="1051560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1600" b="1" dirty="0">
                <a:solidFill>
                  <a:schemeClr val="accent1"/>
                </a:solidFill>
              </a:rPr>
              <a:t>המצב: ‏</a:t>
            </a:r>
            <a:pPr rtl="1" algn="r" indent="0" marL="0">
              <a:buNone/>
            </a:pPr>
            <a:r>
              <a:rPr lang="he-IL" altLang="en-US" sz="1600" b="1" dirty="0">
                <a:solidFill>
                  <a:schemeClr val="bg1"/>
                </a:solidFill>
              </a:rPr>
              <a:t>חבר קיבל ציון טוב יותר — ואתם מרגישים קנאה.‏</a:t>
            </a:r>
            <a:endParaRPr lang="he-IL" sz="1600" dirty="0"/>
          </a:p>
        </p:txBody>
      </p:sp>
      <p:sp>
        <p:nvSpPr>
          <p:cNvPr id="6" name="Question 1 badge"/>
          <p:cNvSpPr/>
          <p:nvPr/>
        </p:nvSpPr>
        <p:spPr>
          <a:xfrm>
            <a:off x="8412480" y="1901952"/>
            <a:ext cx="256032" cy="25603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412480" y="190195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he-IL" altLang="en-US" sz="1000" b="1" dirty="0">
                <a:solidFill>
                  <a:schemeClr val="tx2"/>
                </a:solidFill>
              </a:rPr>
              <a:t>‏1‏</a:t>
            </a:r>
            <a:endParaRPr lang="he-IL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3657600" y="1874520"/>
            <a:ext cx="4663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1500" dirty="0">
                <a:solidFill>
                  <a:schemeClr val="tx2"/>
                </a:solidFill>
              </a:rPr>
              <a:t>מה אפשר להרגיש?‏</a:t>
            </a:r>
            <a:endParaRPr lang="he-IL" sz="1500" dirty="0"/>
          </a:p>
        </p:txBody>
      </p:sp>
      <p:sp>
        <p:nvSpPr>
          <p:cNvPr id="9" name="Question 2 badge"/>
          <p:cNvSpPr/>
          <p:nvPr/>
        </p:nvSpPr>
        <p:spPr>
          <a:xfrm>
            <a:off x="8412480" y="2249424"/>
            <a:ext cx="256032" cy="25603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412480" y="224942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he-IL" altLang="en-US" sz="1000" b="1" dirty="0">
                <a:solidFill>
                  <a:schemeClr val="tx2"/>
                </a:solidFill>
              </a:rPr>
              <a:t>‏2‏</a:t>
            </a:r>
            <a:endParaRPr lang="he-IL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3657600" y="2221992"/>
            <a:ext cx="4663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1500" dirty="0">
                <a:solidFill>
                  <a:schemeClr val="tx2"/>
                </a:solidFill>
              </a:rPr>
              <a:t>אילו תגובות אפשר לבחור?‏</a:t>
            </a:r>
            <a:endParaRPr lang="he-IL" sz="1500" dirty="0"/>
          </a:p>
        </p:txBody>
      </p:sp>
      <p:sp>
        <p:nvSpPr>
          <p:cNvPr id="12" name="Question 3 badge"/>
          <p:cNvSpPr/>
          <p:nvPr/>
        </p:nvSpPr>
        <p:spPr>
          <a:xfrm>
            <a:off x="8412480" y="2596896"/>
            <a:ext cx="256032" cy="25603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412480" y="259689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he-IL" altLang="en-US" sz="1000" b="1" dirty="0">
                <a:solidFill>
                  <a:schemeClr val="tx2"/>
                </a:solidFill>
              </a:rPr>
              <a:t>‏3‏</a:t>
            </a:r>
            <a:endParaRPr lang="he-IL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3657600" y="2569464"/>
            <a:ext cx="4663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1500" dirty="0">
                <a:solidFill>
                  <a:schemeClr val="tx2"/>
                </a:solidFill>
              </a:rPr>
              <a:t>מה פירוש „למשול בחטא” במקרה הזה?‏</a:t>
            </a:r>
            <a:endParaRPr lang="he-IL" sz="1500" dirty="0"/>
          </a:p>
        </p:txBody>
      </p:sp>
      <p:sp>
        <p:nvSpPr>
          <p:cNvPr id="15" name="Response card 1"/>
          <p:cNvSpPr/>
          <p:nvPr/>
        </p:nvSpPr>
        <p:spPr>
          <a:xfrm>
            <a:off x="6126480" y="3108960"/>
            <a:ext cx="2560320" cy="1508760"/>
          </a:xfrm>
          <a:prstGeom prst="roundRect">
            <a:avLst>
              <a:gd name="adj" fmla="val 6061"/>
            </a:avLst>
          </a:prstGeom>
          <a:solidFill>
            <a:schemeClr val="bg2"/>
          </a:solidFill>
          <a:ln/>
        </p:spPr>
      </p:sp>
      <p:sp>
        <p:nvSpPr>
          <p:cNvPr id="16" name="Response 1 circle"/>
          <p:cNvSpPr/>
          <p:nvPr/>
        </p:nvSpPr>
        <p:spPr>
          <a:xfrm>
            <a:off x="7132320" y="3218688"/>
            <a:ext cx="548640" cy="548640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17" name="Response 1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9480" y="3355848"/>
            <a:ext cx="274320" cy="274320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6217920" y="382219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he-IL" altLang="en-US" sz="1600" b="1" dirty="0">
                <a:solidFill>
                  <a:schemeClr val="tx2"/>
                </a:solidFill>
              </a:rPr>
              <a:t>להתפרץ</a:t>
            </a:r>
            <a:endParaRPr lang="he-IL" sz="1600" dirty="0"/>
          </a:p>
        </p:txBody>
      </p:sp>
      <p:sp>
        <p:nvSpPr>
          <p:cNvPr id="19" name="Text 15"/>
          <p:cNvSpPr txBox="1"/>
          <p:nvPr/>
        </p:nvSpPr>
        <p:spPr>
          <a:xfrm>
            <a:off x="6217920" y="418795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he-IL" altLang="en-US" sz="1200" dirty="0">
                <a:solidFill>
                  <a:schemeClr val="accent6"/>
                </a:solidFill>
              </a:rPr>
              <a:t>מה יקרה אחר כך?‏</a:t>
            </a:r>
            <a:endParaRPr lang="he-IL" sz="1200" dirty="0"/>
          </a:p>
        </p:txBody>
      </p:sp>
      <p:sp>
        <p:nvSpPr>
          <p:cNvPr id="20" name="Response card 2"/>
          <p:cNvSpPr/>
          <p:nvPr/>
        </p:nvSpPr>
        <p:spPr>
          <a:xfrm>
            <a:off x="3291840" y="3108960"/>
            <a:ext cx="2560320" cy="1508760"/>
          </a:xfrm>
          <a:prstGeom prst="roundRect">
            <a:avLst>
              <a:gd name="adj" fmla="val 6061"/>
            </a:avLst>
          </a:prstGeom>
          <a:solidFill>
            <a:schemeClr val="bg2"/>
          </a:solidFill>
          <a:ln/>
        </p:spPr>
      </p:sp>
      <p:sp>
        <p:nvSpPr>
          <p:cNvPr id="21" name="Response 2 circle"/>
          <p:cNvSpPr/>
          <p:nvPr/>
        </p:nvSpPr>
        <p:spPr>
          <a:xfrm>
            <a:off x="4297680" y="3218688"/>
            <a:ext cx="548640" cy="54864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22" name="Response 2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4840" y="3355848"/>
            <a:ext cx="274320" cy="274320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3383280" y="382219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he-IL" altLang="en-US" sz="1600" b="1" dirty="0">
                <a:solidFill>
                  <a:schemeClr val="tx2"/>
                </a:solidFill>
              </a:rPr>
              <a:t>להתרחק ולחשוב</a:t>
            </a:r>
            <a:endParaRPr lang="he-IL" sz="1600" dirty="0"/>
          </a:p>
        </p:txBody>
      </p:sp>
      <p:sp>
        <p:nvSpPr>
          <p:cNvPr id="24" name="Text 19"/>
          <p:cNvSpPr txBox="1"/>
          <p:nvPr/>
        </p:nvSpPr>
        <p:spPr>
          <a:xfrm>
            <a:off x="3383280" y="418795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he-IL" altLang="en-US" sz="1200" dirty="0">
                <a:solidFill>
                  <a:schemeClr val="accent6"/>
                </a:solidFill>
              </a:rPr>
              <a:t>איך זה עוזר לי להירגע?‏</a:t>
            </a:r>
            <a:endParaRPr lang="he-IL" sz="1200" dirty="0"/>
          </a:p>
        </p:txBody>
      </p:sp>
      <p:sp>
        <p:nvSpPr>
          <p:cNvPr id="25" name="Response card 3"/>
          <p:cNvSpPr/>
          <p:nvPr/>
        </p:nvSpPr>
        <p:spPr>
          <a:xfrm>
            <a:off x="457200" y="3108960"/>
            <a:ext cx="2560320" cy="1508760"/>
          </a:xfrm>
          <a:prstGeom prst="roundRect">
            <a:avLst>
              <a:gd name="adj" fmla="val 6061"/>
            </a:avLst>
          </a:prstGeom>
          <a:solidFill>
            <a:srgbClr val="F7F2E6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26" name="Response 3 circle"/>
          <p:cNvSpPr/>
          <p:nvPr/>
        </p:nvSpPr>
        <p:spPr>
          <a:xfrm>
            <a:off x="1463040" y="3218688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7" name="Response 3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00200" y="3355848"/>
            <a:ext cx="274320" cy="274320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548640" y="382219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he-IL" altLang="en-US" sz="1600" b="1" dirty="0">
                <a:solidFill>
                  <a:schemeClr val="tx2"/>
                </a:solidFill>
              </a:rPr>
              <a:t>לפרגן ולדבר על הרגש</a:t>
            </a:r>
            <a:endParaRPr lang="he-IL" sz="1600" dirty="0"/>
          </a:p>
        </p:txBody>
      </p:sp>
      <p:sp>
        <p:nvSpPr>
          <p:cNvPr id="29" name="Text 23"/>
          <p:cNvSpPr txBox="1"/>
          <p:nvPr/>
        </p:nvSpPr>
        <p:spPr>
          <a:xfrm>
            <a:off x="548640" y="418795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he-IL" altLang="en-US" sz="1200" dirty="0">
                <a:solidFill>
                  <a:schemeClr val="accent6"/>
                </a:solidFill>
              </a:rPr>
              <a:t>מה זה עושה לחברות?‏</a:t>
            </a:r>
            <a:endParaRPr lang="he-IL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1500">
        <p15:prstTrans prst="pageCurlDouble" invX="1"/>
      </p:transition>
    </mc:Choice>
    <mc:Fallback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0" y="32004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3200" b="1" dirty="0">
                <a:solidFill>
                  <a:schemeClr val="accent1"/>
                </a:solidFill>
              </a:rPr>
              <a:t>סיכום</a:t>
            </a:r>
            <a:endParaRPr lang="he-IL" sz="3200" dirty="0"/>
          </a:p>
        </p:txBody>
      </p:sp>
      <p:pic>
        <p:nvPicPr>
          <p:cNvPr id="3" name="Illustration" descr="איור: דרך ישרה ומוארת המובילה אל הזריחה בין שדות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4206240" cy="5143500"/>
          </a:xfrm>
          <a:prstGeom prst="rect">
            <a:avLst/>
          </a:prstGeom>
        </p:spPr>
      </p:pic>
      <p:sp>
        <p:nvSpPr>
          <p:cNvPr id="4" name="Takeaway 1 badge"/>
          <p:cNvSpPr/>
          <p:nvPr/>
        </p:nvSpPr>
        <p:spPr>
          <a:xfrm>
            <a:off x="8339328" y="1060704"/>
            <a:ext cx="347472" cy="3474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8339328" y="106070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he-IL" altLang="en-US" sz="1300" b="1" dirty="0">
                <a:solidFill>
                  <a:schemeClr val="tx2"/>
                </a:solidFill>
              </a:rPr>
              <a:t>‏1‏</a:t>
            </a:r>
            <a:endParaRPr lang="he-IL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4480560" y="100584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1800" b="1" dirty="0">
                <a:solidFill>
                  <a:schemeClr val="bg1"/>
                </a:solidFill>
              </a:rPr>
              <a:t>רגשות קשים הם אנושיים</a:t>
            </a:r>
            <a:endParaRPr lang="he-IL" sz="1800" dirty="0"/>
          </a:p>
        </p:txBody>
      </p:sp>
      <p:sp>
        <p:nvSpPr>
          <p:cNvPr id="7" name="Takeaway 2 badge"/>
          <p:cNvSpPr/>
          <p:nvPr/>
        </p:nvSpPr>
        <p:spPr>
          <a:xfrm>
            <a:off x="8339328" y="1563624"/>
            <a:ext cx="347472" cy="3474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8339328" y="156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he-IL" altLang="en-US" sz="1300" b="1" dirty="0">
                <a:solidFill>
                  <a:schemeClr val="tx2"/>
                </a:solidFill>
              </a:rPr>
              <a:t>‏2‏</a:t>
            </a:r>
            <a:endParaRPr lang="he-IL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4480560" y="150876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1800" b="1" dirty="0">
                <a:solidFill>
                  <a:schemeClr val="bg1"/>
                </a:solidFill>
              </a:rPr>
              <a:t>המעשים הם בחירה</a:t>
            </a:r>
            <a:endParaRPr lang="he-IL" sz="1800" dirty="0"/>
          </a:p>
        </p:txBody>
      </p:sp>
      <p:sp>
        <p:nvSpPr>
          <p:cNvPr id="10" name="Takeaway 3 badge"/>
          <p:cNvSpPr/>
          <p:nvPr/>
        </p:nvSpPr>
        <p:spPr>
          <a:xfrm>
            <a:off x="8339328" y="2066544"/>
            <a:ext cx="347472" cy="3474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339328" y="206654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he-IL" altLang="en-US" sz="1300" b="1" dirty="0">
                <a:solidFill>
                  <a:schemeClr val="tx2"/>
                </a:solidFill>
              </a:rPr>
              <a:t>‏3‏</a:t>
            </a:r>
            <a:endParaRPr lang="he-IL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4480560" y="201168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1800" b="1" dirty="0">
                <a:solidFill>
                  <a:schemeClr val="bg1"/>
                </a:solidFill>
              </a:rPr>
              <a:t>לוקחים אחריות — מודים ולא בורחים</a:t>
            </a:r>
            <a:endParaRPr lang="he-IL" sz="1800" dirty="0"/>
          </a:p>
        </p:txBody>
      </p:sp>
      <p:sp>
        <p:nvSpPr>
          <p:cNvPr id="13" name="Closing question"/>
          <p:cNvSpPr/>
          <p:nvPr/>
        </p:nvSpPr>
        <p:spPr>
          <a:xfrm>
            <a:off x="4572000" y="2606040"/>
            <a:ext cx="4114800" cy="731520"/>
          </a:xfrm>
          <a:prstGeom prst="roundRect">
            <a:avLst>
              <a:gd name="adj" fmla="val 12500"/>
            </a:avLst>
          </a:prstGeom>
          <a:solidFill>
            <a:srgbClr val="1F2F55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709160" y="2606040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1700" b="1" i="1" dirty="0">
                <a:solidFill>
                  <a:schemeClr val="accent1"/>
                </a:solidFill>
              </a:rPr>
              <a:t>איזו בחירה קטנה יכולה לשנות תוצאה גדולה?‏</a:t>
            </a:r>
            <a:endParaRPr lang="he-IL" sz="1700" dirty="0"/>
          </a:p>
        </p:txBody>
      </p:sp>
      <p:sp>
        <p:nvSpPr>
          <p:cNvPr id="15" name="Text 12"/>
          <p:cNvSpPr txBox="1"/>
          <p:nvPr/>
        </p:nvSpPr>
        <p:spPr>
          <a:xfrm>
            <a:off x="4572000" y="3401568"/>
            <a:ext cx="41148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spcAft>
                <a:spcPts val="200"/>
              </a:spcAft>
              <a:buNone/>
            </a:pPr>
            <a:r>
              <a:rPr lang="he-IL" altLang="en-US" sz="1200" b="1" dirty="0">
                <a:solidFill>
                  <a:schemeClr val="accent1"/>
                </a:solidFill>
              </a:rPr>
              <a:t>מקורות</a:t>
            </a:r>
            <a:endParaRPr lang="he-IL" sz="1050" dirty="0"/>
          </a:p>
          <a:p>
            <a:pPr rtl="1" algn="r" indent="0" marL="0">
              <a:spcAft>
                <a:spcPts val="200"/>
              </a:spcAft>
              <a:buNone/>
            </a:pPr>
            <a:r>
              <a:rPr lang="he-IL" altLang="en-US" sz="1050" dirty="0">
                <a:solidFill>
                  <a:schemeClr val="accent3"/>
                </a:solidFill>
              </a:rPr>
              <a:t>בראשית פרק ד׳, פסוקים א׳–ט״ז</a:t>
            </a:r>
            <a:endParaRPr lang="he-IL" sz="1050" dirty="0"/>
          </a:p>
          <a:p>
            <a:pPr rtl="1" algn="r" indent="0" marL="0">
              <a:spcAft>
                <a:spcPts val="200"/>
              </a:spcAft>
              <a:buNone/>
            </a:pPr>
            <a:r>
              <a:rPr lang="he-IL" altLang="en-US" sz="1050" dirty="0">
                <a:solidFill>
                  <a:schemeClr val="accent3"/>
                </a:solidFill>
              </a:rPr>
              <a:t>רש״י על בראשית ד׳, ג׳ („מן הגרוע”) ועל ד׳, ז׳ („אם תרצה תתגבר עליו”)‏</a:t>
            </a:r>
            <a:endParaRPr lang="he-IL" sz="1050" dirty="0"/>
          </a:p>
          <a:p>
            <a:pPr rtl="1" algn="r" indent="0" marL="0">
              <a:spcAft>
                <a:spcPts val="200"/>
              </a:spcAft>
              <a:buNone/>
            </a:pPr>
            <a:r>
              <a:rPr lang="he-IL" altLang="en-US" sz="1050" dirty="0">
                <a:solidFill>
                  <a:schemeClr val="accent3"/>
                </a:solidFill>
              </a:rPr>
              <a:t>רש״י על בראשית ד׳, ט׳ („אולי ישוב ויאמר: אני הרגתיו”)‏</a:t>
            </a:r>
            <a:endParaRPr lang="he-IL" sz="1050" dirty="0"/>
          </a:p>
          <a:p>
            <a:pPr rtl="1" algn="r" indent="0" marL="0">
              <a:spcAft>
                <a:spcPts val="200"/>
              </a:spcAft>
              <a:buNone/>
            </a:pPr>
            <a:r>
              <a:rPr lang="he-IL" altLang="en-US" sz="1050" dirty="0">
                <a:solidFill>
                  <a:schemeClr val="accent3"/>
                </a:solidFill>
              </a:rPr>
              <a:t>מדרש תנחומא, בראשית ט׳ · בראשית רבה כ״ב, י״ג</a:t>
            </a:r>
            <a:endParaRPr lang="he-IL" sz="1050" dirty="0"/>
          </a:p>
          <a:p>
            <a:pPr rtl="1" algn="r" indent="0" marL="0">
              <a:spcAft>
                <a:spcPts val="200"/>
              </a:spcAft>
              <a:buNone/>
            </a:pPr>
            <a:r>
              <a:rPr lang="he-IL" altLang="en-US" sz="1050" dirty="0">
                <a:solidFill>
                  <a:schemeClr val="accent3"/>
                </a:solidFill>
              </a:rPr>
              <a:t>בראשית ג׳, י״ב · ל״ח, כ״ו · שמואל ב׳ י״ב, י״ג</a:t>
            </a:r>
            <a:endParaRPr lang="he-IL" sz="1050" dirty="0"/>
          </a:p>
          <a:p>
            <a:pPr rtl="1" algn="r" indent="0" marL="0">
              <a:spcAft>
                <a:spcPts val="200"/>
              </a:spcAft>
              <a:buNone/>
            </a:pPr>
            <a:r>
              <a:rPr lang="he-IL" altLang="en-US" sz="1050" dirty="0">
                <a:solidFill>
                  <a:schemeClr val="accent3"/>
                </a:solidFill>
              </a:rPr>
              <a:t>רמב״ם, הלכות תשובה א׳, א׳</a:t>
            </a:r>
            <a:endParaRPr lang="he-IL" sz="1050" dirty="0"/>
          </a:p>
          <a:p>
            <a:pPr rtl="1" algn="r" indent="0" marL="0">
              <a:spcAft>
                <a:spcPts val="200"/>
              </a:spcAft>
              <a:buNone/>
            </a:pPr>
            <a:r>
              <a:rPr lang="he-IL" altLang="en-US" sz="1050" b="1" dirty="0">
                <a:solidFill>
                  <a:schemeClr val="accent1"/>
                </a:solidFill>
              </a:rPr>
              <a:t>דף המקורות המלא:‏</a:t>
            </a:r>
            <a:endParaRPr lang="he-IL" sz="1050" dirty="0"/>
          </a:p>
          <a:p>
            <a:pPr rtl="1" algn="r" indent="0" marL="0">
              <a:spcAft>
                <a:spcPts val="200"/>
              </a:spcAft>
              <a:buNone/>
            </a:pPr>
            <a:r>
              <a:rPr lang="he-IL" altLang="en-US" sz="1050" u="sng" dirty="0">
                <a:solidFill>
                  <a:schemeClr val="accent1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‏arielagubal.github.io/kayin-hevel/sources.html‏</a:t>
            </a:r>
            <a:endParaRPr lang="he-IL" sz="1050" dirty="0"/>
          </a:p>
        </p:txBody>
      </p:sp>
    </p:spTree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1500">
        <p15:prstTrans prst="pageCurlDouble" invX="1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Kayin Hevel">
  <a:themeElements>
    <a:clrScheme name="Kayin Hevel">
      <a:dk1>
        <a:srgbClr val="1B2233"/>
      </a:dk1>
      <a:lt1>
        <a:srgbClr val="FFFFFF"/>
      </a:lt1>
      <a:dk2>
        <a:srgbClr val="14213D"/>
      </a:dk2>
      <a:lt2>
        <a:srgbClr val="EFE6D2"/>
      </a:lt2>
      <a:accent1>
        <a:srgbClr val="C9A227"/>
      </a:accent1>
      <a:accent2>
        <a:srgbClr val="14213D"/>
      </a:accent2>
      <a:accent3>
        <a:srgbClr val="E9DCC0"/>
      </a:accent3>
      <a:accent4>
        <a:srgbClr val="2E4377"/>
      </a:accent4>
      <a:accent5>
        <a:srgbClr val="B23A3A"/>
      </a:accent5>
      <a:accent6>
        <a:srgbClr val="6B7280"/>
      </a:accent6>
      <a:hlink>
        <a:srgbClr val="2E4377"/>
      </a:hlink>
      <a:folHlink>
        <a:srgbClr val="6B7280"/>
      </a:folHlink>
    </a:clrScheme>
    <a:fontScheme name="Kayin Hevel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קין והבל — בחירה, חטא ואחריות</dc:title>
  <dc:subject>PptxGenJS Presentation</dc:subject>
  <dc:creator>אריאל אג׳ובל, אורי טבול, איתמר אלבוים</dc:creator>
  <cp:lastModifiedBy>אריאל אג׳ובל, אורי טבול, איתמר אלבוים</cp:lastModifiedBy>
  <cp:revision>1</cp:revision>
  <dcterms:created xsi:type="dcterms:W3CDTF">2026-10-13T07:21:22Z</dcterms:created>
  <dcterms:modified xsi:type="dcterms:W3CDTF">2026-10-13T07:21:22Z</dcterms:modified>
</cp:coreProperties>
</file>