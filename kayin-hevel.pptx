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פתיחה" id="{84ade3e4-a156-1fd8-ca13-bd64fb089e54}">
          <p14:sldIdLst>
            <p14:sldId id="256"/>
            <p14:sldId id="257"/>
            <p14:sldId id="258"/>
          </p14:sldIdLst>
        </p14:section>
        <p14:section name="הסיפור" id="{d725d65d-f067-6e63-5842-02711652e069}">
          <p14:sldIdLst>
            <p14:sldId id="259"/>
            <p14:sldId id="260"/>
            <p14:sldId id="261"/>
          </p14:sldIdLst>
        </p14:section>
        <p14:section name="בחירה ופרשנות" id="{20ef4bb5-e778-3875-c8be-0238924821c4}">
          <p14:sldIdLst>
            <p14:sldId id="262"/>
            <p14:sldId id="263"/>
          </p14:sldIdLst>
        </p14:section>
        <p14:section name="חטא ואחריות" id="{504dfd6d-5ce1-1a7d-c183-11961a1aa8d4}">
          <p14:sldIdLst>
            <p14:sldId id="264"/>
            <p14:sldId id="265"/>
            <p14:sldId id="266"/>
            <p14:sldId id="267"/>
            <p14:sldId id="268"/>
          </p14:sldIdLst>
        </p14:section>
        <p14:section name="ואנחנו" id="{45c9b863-711b-4028-49ab-af6bb8e15960}">
          <p14:sldIdLst>
            <p14:sldId id="269"/>
          </p14:sldIdLst>
        </p14:section>
        <p14:section name="פעילות וסיכום" id="{bd19c3bb-938e-ef82-260d-d08148a20918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פותחים בשאלה ולא בתשובה: האם קין היה חייב לחטוא או שבחר? מבקשים מהכיתה לחשוב על התשובה שלהם עכשיו — ונחזור אליה בסוף המצגת.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לפני שמתחילים, מציגים את מהלך השיעור: נכיר את הסיפור, נבין מה פירוש הבחירה שה׳ מציב בפני קין, נבחין בין מה שכתוב בפסוק לבין הפרשנות, נעמיק בנושא האחריות — ובסוף נשאל מה כל זה אומר עלינו היום, עם פעילות קצרה לכיתה.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מקרינים את הסרטון (כדקה). לוחצים על הסרטון כדי להפעיל. לפני הצפייה מבקשים מהכיתה לחפש את הרגע שבו קין עוד יכול היה לעצור — נחזור לשאלה הזאת בשקף „איפה מתחיל הרע?”.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מספרים את הסיפור בשישה צעדים לפי הפסוקים. שימו לב: בין הכעס (פסוק ה׳) לבין המעשה (פסוק ח׳) יש אזהרה מה׳ — כלומר הייתה הזדמנות לעצור.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מכירים את הדמויות. קין הוא הבכור, ושמו מוסבר בפסוק: חוה אומרת „קניתי איש את ה׳”. שמו של הבל לא מוסבר בפסוק — יש מפרשים שרואים בו רמז ל„הבל” במובן של אדים, משהו שחולף מהר, כמו חייו הקצרים; זו פרשנות ולא דברי הפסוק. כדאי להדגיש: אין כאן אח טוב ואח רע מלידה — שניהם עובדים ושניהם מביאים מנחה.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הרגש הראשוני — אכזבה, קנאה — הוא טבעי. ה׳ לא מאשים את קין על הכעס, אלא שואל אותו עליו. השאלה לכיתה: באיזה שלב בתרשים קין עוד יכול היה לעצור?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לב המצגת. קוראים את הפסוק לאט. רש״י מפרש „ואתה תמשל בו”: אם תרצה — תתגבר עליו. כלומר החטא אינו גזירה; יש לאדם יכולת לבחור. לשאול: מה המשמעות של „אם תרצה”?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מבחינים בין הכתוב לבין הפרשנות. הפסוקים מתארים מה כל אחד הביא ושה׳ שעה להבל — אך לא מסבירים למה. ההסברים (איכות המנחה, הכוונה) הם פרשנות של חז״ל ורש״י, לא דברי הפסוק עצמו.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למעשה יש תוצאות. האדמה עצמה „זועקת” — אי אפשר להסתיר פגיעה. העונש: נע ונד, בלי שקט ובלי בית. ועדיין — קין מכיר באשמתו וה׳ מגן עליו באות. גם אחרי חטא יש מקום להכרה ולתיקון.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השאלה של קין היא התחמקות. התשובה של המצגת: כן, אני שומר אחי. מבקשים דוגמה מחיי הכיתה — מתי ראינו פגיעה, ומה אפשר היה לעשות במקום להתעלם?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המדרש מרחיב את השיחה בין ה׳ לקין ומראה שלושה תירוצים שבני אדם משתמשים בהם עד היום: להאשים מישהו אחר („בראת בי יצר הרע”), לטעון שלא ידעו מה יקרה, ולקוות שאף אחד לא יגלה. רק כשקין אומר „גדול עווני מנשוא” — כלומר מודה — ה׳ עונה לו „הואיל והודית ועשית תשובה” ומקל בעונשו. לשאול את הכיתה: איזה מהתירוצים האלה אנחנו שומעים הכי הרבה?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לקיחת אחריות פירושה להודות במעשה ולא לברוח ממנו בתירוצים. רש״י (ד׳, ט׳) אומר שה׳ שאל „אי הבל אחיך” כדי לתת לקין פתח: „אולי ישוב ויאמר: אני הרגתיו וחטאתי לך” — אבל קין ענה „לא ידעתי”. במדרש תנחומא קין מנסה תירוצים: „בראת בי יצר הרע”, „לא ידעתי”. מולו יהודה ודוד מודים מיד. לפי הרמב״ם, תשובה מתחילה בווידוי: להודות, להתחרט ולהתחייב לא לחזור. לשאול את הכיתה: אילו תירוצים אנחנו אומרים כשאנחנו טועים?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של תקווה. בבראשית רבה אדם הראשון שואל את קין מה נגזר עליו, וקין עונה שעשה תשובה והעונש הוקל. אדם מופתע: „כך היא כוחה של תשובה ואני לא הייתי יודע”. המסר: לקיחת אחריות היא לא רק הודאה בכישלון — היא הדרך לתקן ולהמשיך. גם ה׳ מגן על קין ושם לו אות.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מחברים את הסיפור לחיים שלנו. ארבעה מצבים מוכרים מהכיתה ומהבית: קנאה, פגיעה שרואים מהצד, טעות שעשינו, והצלחה של מישהו אחר. בכל אחד מהם יש רגע של בחירה — בדיוק כמו אצל קין. אפשר לבקש מתלמידים לתת דוגמה אמיתית (בלי שמות) לכל מצב.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מחלקים את הכיתה לקבוצות קטנות לכמה דקות. כל קבוצה עונה על שלוש השאלות ובוחרת כרטיס תגובה. מדגישים: הקנאה עצמה טבעית — „למשול בחטא” פירושו לבחור מה עושים איתה. שאלת המשך: ואם כבר פגעתם בחבר — איך לוקחים אחריות?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מסכמים בשלושה מסרים. חוזרים לשאלת הפתיחה: קין לא היה חייב לחטוא — הוא קיבל אזהרה והייתה לו בחירה. וגם אחרי שטעינו, הבחירה ממשיכה: להודות ולא לברוח. מסיימים בשאלה פתוחה לכיתה: איזו בחירה קטנה שלנו יכולה לשנות תוצאה גדולה? דף המקורות המלא: https://arielagubal.github.io/kayin-hevel/sources.html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he-IL" sz="3000" dirty="0"/>
          </a:p>
        </p:txBody>
      </p:sp>
      <p:sp>
        <p:nvSpPr>
          <p:cNvPr id="3" name="Text 0"/>
          <p:cNvSpPr/>
          <p:nvPr/>
        </p:nvSpPr>
        <p:spPr>
          <a:xfrm>
            <a:off x="41148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900" dirty="0">
                <a:solidFill>
                  <a:schemeClr val="accent6"/>
                </a:solidFill>
              </a:rPr>
              <a:t>קין והבל — בחירה, חטא ואחריות · בראשית פרק ד׳</a:t>
            </a:r>
            <a:endParaRPr lang="he-IL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32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he-IL" sz="3200" dirty="0"/>
          </a:p>
        </p:txBody>
      </p:sp>
      <p:sp>
        <p:nvSpPr>
          <p:cNvPr id="3" name="Text 0"/>
          <p:cNvSpPr/>
          <p:nvPr/>
        </p:nvSpPr>
        <p:spPr>
          <a:xfrm>
            <a:off x="41148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900" dirty="0">
                <a:solidFill>
                  <a:schemeClr val="accent3"/>
                </a:solidFill>
              </a:rPr>
              <a:t>קין והבל — בחירה, חטא ואחריות · בראשית פרק ד׳</a:t>
            </a:r>
            <a:endParaRPr lang="he-IL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0" y="320040"/>
            <a:ext cx="4114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32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he-IL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ielagubal.github.io/kayin-hevel/sources.html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lustration" descr="איור: שני אחים עומדים במרחק זה מזה בשקיעה — אחד ליד שדה חרוש ואחד ליד עדר צא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846320" y="685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spc="100" kern="0" dirty="0">
                <a:solidFill>
                  <a:schemeClr val="accent1"/>
                </a:solidFill>
              </a:rPr>
              <a:t>בראשית פרק ד׳</a:t>
            </a:r>
            <a:endParaRPr lang="he-IL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846320" y="1005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800" b="1" dirty="0">
                <a:solidFill>
                  <a:schemeClr val="bg1"/>
                </a:solidFill>
              </a:rPr>
              <a:t>קין והבל</a:t>
            </a:r>
            <a:endParaRPr lang="he-IL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dirty="0">
                <a:solidFill>
                  <a:schemeClr val="accent3"/>
                </a:solidFill>
              </a:rPr>
              <a:t>בחירה, חטא ואחריות</a:t>
            </a:r>
            <a:endParaRPr lang="he-IL" sz="2600" dirty="0"/>
          </a:p>
        </p:txBody>
      </p:sp>
      <p:sp>
        <p:nvSpPr>
          <p:cNvPr id="6" name="Big question box"/>
          <p:cNvSpPr/>
          <p:nvPr/>
        </p:nvSpPr>
        <p:spPr>
          <a:xfrm>
            <a:off x="4846320" y="2514600"/>
            <a:ext cx="3840480" cy="1143000"/>
          </a:xfrm>
          <a:prstGeom prst="roundRect">
            <a:avLst>
              <a:gd name="adj" fmla="val 9600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83480" y="25603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chemeClr val="accent1"/>
                </a:solidFill>
              </a:rPr>
              <a:t>השאלה הגדולה</a:t>
            </a:r>
            <a:endParaRPr lang="he-IL" sz="1200" dirty="0"/>
          </a:p>
          <a:p>
            <a:pPr rtl="1" algn="r" indent="0" marL="0">
              <a:buNone/>
            </a:pPr>
            <a:r>
              <a:rPr lang="he-IL" altLang="en-US" sz="1800" b="1" dirty="0">
                <a:solidFill>
                  <a:schemeClr val="bg1"/>
                </a:solidFill>
              </a:rPr>
              <a:t>האם קין היה חייב לחטוא —‏</a:t>
            </a:r>
            <a:endParaRPr lang="he-IL" sz="1200" dirty="0"/>
          </a:p>
          <a:p>
            <a:pPr rtl="1" algn="r" indent="0" marL="0">
              <a:buNone/>
            </a:pPr>
            <a:r>
              <a:rPr lang="he-IL" altLang="en-US" sz="1800" b="1" dirty="0">
                <a:solidFill>
                  <a:schemeClr val="accent1"/>
                </a:solidFill>
              </a:rPr>
              <a:t>או שהוא בחר?‏</a:t>
            </a:r>
            <a:endParaRPr lang="he-IL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42245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00" b="1" dirty="0">
                <a:solidFill>
                  <a:schemeClr val="accent1"/>
                </a:solidFill>
              </a:rPr>
              <a:t>מציגים</a:t>
            </a:r>
            <a:endParaRPr lang="he-IL" sz="11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bg1"/>
                </a:solidFill>
              </a:rPr>
              <a:t>אריאל אג׳ובל · אורי טבול · איתמר אלבוים</a:t>
            </a:r>
            <a:endParaRPr lang="he-IL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3721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chemeClr val="accent3"/>
                </a:solidFill>
              </a:rPr>
              <a:t>בפרק ד׳ מסופר על שני האחים הראשונים בעולם — ועל רגע אחד של בחירה ששינה הכול.‏</a:t>
            </a:r>
            <a:endParaRPr lang="he-IL" sz="13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0" y="320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he-IL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על מה נדבר היום</a:t>
            </a:r>
            <a:endParaRPr lang="he-IL" sz="3000" dirty="0"/>
          </a:p>
        </p:txBody>
      </p:sp>
      <p:pic>
        <p:nvPicPr>
          <p:cNvPr id="3" name="Illustration" descr="איור: שביל מתפתל עם תחנות בדרך אל האור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743200" cy="3593592"/>
          </a:xfrm>
          <a:prstGeom prst="rect">
            <a:avLst/>
          </a:prstGeom>
        </p:spPr>
      </p:pic>
      <p:sp>
        <p:nvSpPr>
          <p:cNvPr id="4" name="Agenda 1 badge"/>
          <p:cNvSpPr/>
          <p:nvPr/>
        </p:nvSpPr>
        <p:spPr>
          <a:xfrm>
            <a:off x="8229600" y="114300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bg1"/>
                </a:solidFill>
              </a:rPr>
              <a:t>‏1‏</a:t>
            </a:r>
            <a:endParaRPr lang="he-IL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0972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chemeClr val="tx2"/>
                </a:solidFill>
              </a:rPr>
              <a:t>הסיפור</a:t>
            </a:r>
            <a:endParaRPr lang="he-IL" sz="17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accent6"/>
                </a:solidFill>
              </a:rPr>
              <a:t>מה קרה בין קין להבל, לפי הפסוקים (בראשית ד׳, א׳–ט״ז)‏</a:t>
            </a:r>
            <a:endParaRPr lang="he-IL" sz="1700" dirty="0"/>
          </a:p>
        </p:txBody>
      </p:sp>
      <p:sp>
        <p:nvSpPr>
          <p:cNvPr id="7" name="Agenda 2 badge"/>
          <p:cNvSpPr/>
          <p:nvPr/>
        </p:nvSpPr>
        <p:spPr>
          <a:xfrm>
            <a:off x="8229600" y="185623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‏2‏</a:t>
            </a:r>
            <a:endParaRPr lang="he-IL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81051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chemeClr val="tx2"/>
                </a:solidFill>
              </a:rPr>
              <a:t>הבחירה</a:t>
            </a:r>
            <a:endParaRPr lang="he-IL" sz="17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accent6"/>
                </a:solidFill>
              </a:rPr>
              <a:t>‏„וְאַתָּה תִּמְשָׁל־בּוֹ” — האם קין היה חייב לחטוא?‏</a:t>
            </a:r>
            <a:endParaRPr lang="he-IL" sz="1700" dirty="0"/>
          </a:p>
        </p:txBody>
      </p:sp>
      <p:sp>
        <p:nvSpPr>
          <p:cNvPr id="10" name="Agenda 3 badge"/>
          <p:cNvSpPr/>
          <p:nvPr/>
        </p:nvSpPr>
        <p:spPr>
          <a:xfrm>
            <a:off x="8229600" y="2569464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2569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bg1"/>
                </a:solidFill>
              </a:rPr>
              <a:t>‏3‏</a:t>
            </a:r>
            <a:endParaRPr lang="he-IL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52374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chemeClr val="tx2"/>
                </a:solidFill>
              </a:rPr>
              <a:t>הפרשנות</a:t>
            </a:r>
            <a:endParaRPr lang="he-IL" sz="17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accent6"/>
                </a:solidFill>
              </a:rPr>
              <a:t>מה כתוב בפסוק עצמו, ומה מוסיפים רש״י והמדרש</a:t>
            </a:r>
            <a:endParaRPr lang="he-IL" sz="1700" dirty="0"/>
          </a:p>
        </p:txBody>
      </p:sp>
      <p:sp>
        <p:nvSpPr>
          <p:cNvPr id="13" name="Agenda 4 badge"/>
          <p:cNvSpPr/>
          <p:nvPr/>
        </p:nvSpPr>
        <p:spPr>
          <a:xfrm>
            <a:off x="8229600" y="328269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0" y="328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‏4‏</a:t>
            </a:r>
            <a:endParaRPr lang="he-IL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323697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chemeClr val="tx2"/>
                </a:solidFill>
              </a:rPr>
              <a:t>האחריות</a:t>
            </a:r>
            <a:endParaRPr lang="he-IL" sz="17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accent6"/>
                </a:solidFill>
              </a:rPr>
              <a:t>‏„הֲשֹׁמֵר אָחִי אָנֹכִי?” — להודות בטעות ולא לברוח ממנה</a:t>
            </a:r>
            <a:endParaRPr lang="he-IL" sz="1700" dirty="0"/>
          </a:p>
        </p:txBody>
      </p:sp>
      <p:sp>
        <p:nvSpPr>
          <p:cNvPr id="16" name="Agenda 5 badge"/>
          <p:cNvSpPr/>
          <p:nvPr/>
        </p:nvSpPr>
        <p:spPr>
          <a:xfrm>
            <a:off x="8229600" y="39959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0" y="3995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bg1"/>
                </a:solidFill>
              </a:rPr>
              <a:t>‏5‏</a:t>
            </a:r>
            <a:endParaRPr lang="he-IL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95020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chemeClr val="tx2"/>
                </a:solidFill>
              </a:rPr>
              <a:t>ואנחנו</a:t>
            </a:r>
            <a:endParaRPr lang="he-IL" sz="17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accent6"/>
                </a:solidFill>
              </a:rPr>
              <a:t>מה הסיפור מלמד אותנו היום, ופעילות קצרה לכיתה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accent1"/>
                </a:solidFill>
              </a:rPr>
              <a:t>הסיפור בסרטון — דקה אחת</a:t>
            </a:r>
            <a:endParaRPr lang="he-IL" sz="3200" dirty="0"/>
          </a:p>
        </p:txBody>
      </p:sp>
      <p:pic>
        <p:nvPicPr>
          <p:cNvPr id="3" name="Story 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" y="1051560"/>
            <a:ext cx="585216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051560"/>
            <a:ext cx="2103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צפו בסרטון קצר שמסכם את כל הסיפור — מהמנחות ועד העונש.‏</a:t>
            </a:r>
            <a:endParaRPr lang="he-IL" sz="1500" dirty="0"/>
          </a:p>
          <a:p>
            <a:pPr rtl="1" algn="r" indent="0" marL="0">
              <a:buNone/>
            </a:pPr>
            <a:endParaRPr lang="he-IL" sz="1500" dirty="0"/>
          </a:p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שאלה למחשבה בזמן הצפייה:‏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באיזה רגע קין עוד יכול היה לעצור?‏</a:t>
            </a:r>
            <a:endParaRPr lang="he-IL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4074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chemeClr val="accent3"/>
                </a:solidFill>
              </a:rPr>
              <a:t>קריינות ואיורים: נוצרו במיוחד למצגת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הסיפור בקצרה</a:t>
            </a:r>
            <a:endParaRPr lang="he-IL" sz="3000" dirty="0"/>
          </a:p>
        </p:txBody>
      </p:sp>
      <p:pic>
        <p:nvPicPr>
          <p:cNvPr id="3" name="Illustration" descr="איור: שדה חיטה זהוב ועדר צאן על גבעה ירוקה, עם עובד אדמה ורועה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3017520" cy="3602736"/>
          </a:xfrm>
          <a:prstGeom prst="rect">
            <a:avLst/>
          </a:prstGeom>
        </p:spPr>
      </p:pic>
      <p:sp>
        <p:nvSpPr>
          <p:cNvPr id="4" name="Timeline line"/>
          <p:cNvSpPr/>
          <p:nvPr/>
        </p:nvSpPr>
        <p:spPr>
          <a:xfrm>
            <a:off x="8522208" y="1234440"/>
            <a:ext cx="0" cy="320040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5" name="Step 1 dot"/>
          <p:cNvSpPr/>
          <p:nvPr/>
        </p:nvSpPr>
        <p:spPr>
          <a:xfrm>
            <a:off x="8385048" y="1152144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5048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bg1"/>
                </a:solidFill>
              </a:rPr>
              <a:t>‏1‏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10789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קין עובד אדמה, הבל רועה צאן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6"/>
                </a:solidFill>
              </a:rPr>
              <a:t>שני עיסוקים שונים, שתי דרכים לפרנס את העולם · ד׳, ב׳</a:t>
            </a:r>
            <a:endParaRPr lang="he-IL" sz="1500" dirty="0"/>
          </a:p>
        </p:txBody>
      </p:sp>
      <p:sp>
        <p:nvSpPr>
          <p:cNvPr id="8" name="Step 2 dot"/>
          <p:cNvSpPr/>
          <p:nvPr/>
        </p:nvSpPr>
        <p:spPr>
          <a:xfrm>
            <a:off x="8385048" y="1737360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504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bg1"/>
                </a:solidFill>
              </a:rPr>
              <a:t>‏2‏</a:t>
            </a:r>
            <a:endParaRPr lang="he-IL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16642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שני האחים מביאים מנחה לה׳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6"/>
                </a:solidFill>
              </a:rPr>
              <a:t>קין „מִפְּרִי הָאֲדָמָה”, הבל „מִבְּכֹרוֹת צֹאנוֹ” · ד׳, ג׳–ד׳</a:t>
            </a:r>
            <a:endParaRPr lang="he-IL" sz="1500" dirty="0"/>
          </a:p>
        </p:txBody>
      </p:sp>
      <p:sp>
        <p:nvSpPr>
          <p:cNvPr id="11" name="Step 3 dot"/>
          <p:cNvSpPr/>
          <p:nvPr/>
        </p:nvSpPr>
        <p:spPr>
          <a:xfrm>
            <a:off x="8385048" y="2322576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5048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bg1"/>
                </a:solidFill>
              </a:rPr>
              <a:t>‏3‏</a:t>
            </a:r>
            <a:endParaRPr lang="he-IL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22494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ה׳ שועה אל הבל ומנחתו — ואל קין לא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6"/>
                </a:solidFill>
              </a:rPr>
              <a:t>הפסוק לא מסביר למה — וכאן מתחילה הפרשנות · ד׳, ד׳–ה׳</a:t>
            </a:r>
            <a:endParaRPr lang="he-IL" sz="1500" dirty="0"/>
          </a:p>
        </p:txBody>
      </p:sp>
      <p:sp>
        <p:nvSpPr>
          <p:cNvPr id="14" name="Step 4 dot"/>
          <p:cNvSpPr/>
          <p:nvPr/>
        </p:nvSpPr>
        <p:spPr>
          <a:xfrm>
            <a:off x="8385048" y="2907792"/>
            <a:ext cx="274320" cy="2743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85048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bg1"/>
                </a:solidFill>
              </a:rPr>
              <a:t>‏4‏</a:t>
            </a:r>
            <a:endParaRPr lang="he-IL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2834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קין כועס מאוד, ופניו נופלות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6"/>
                </a:solidFill>
              </a:rPr>
              <a:t>אכזבה שהופכת לכעס ולקנאה באח · ד׳, ה׳</a:t>
            </a:r>
            <a:endParaRPr lang="he-IL" sz="1500" dirty="0"/>
          </a:p>
        </p:txBody>
      </p:sp>
      <p:sp>
        <p:nvSpPr>
          <p:cNvPr id="17" name="Step 5 dot"/>
          <p:cNvSpPr/>
          <p:nvPr/>
        </p:nvSpPr>
        <p:spPr>
          <a:xfrm>
            <a:off x="8385048" y="349300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85048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bg1"/>
                </a:solidFill>
              </a:rPr>
              <a:t>‏5‏</a:t>
            </a:r>
            <a:endParaRPr lang="he-IL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34198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אזהרה: „וְאַתָּה תִּמְשָׁל־בּוֹ”‏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6"/>
                </a:solidFill>
              </a:rPr>
              <a:t>ה׳ מזהיר: החטא מחכה בפתח, אבל אתה יכול לשלוט בו · ד׳, ו׳–ז׳</a:t>
            </a:r>
            <a:endParaRPr lang="he-IL" sz="1500" dirty="0"/>
          </a:p>
        </p:txBody>
      </p:sp>
      <p:sp>
        <p:nvSpPr>
          <p:cNvPr id="20" name="Step 6 dot"/>
          <p:cNvSpPr/>
          <p:nvPr/>
        </p:nvSpPr>
        <p:spPr>
          <a:xfrm>
            <a:off x="8385048" y="4078224"/>
            <a:ext cx="274320" cy="27432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85048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bg1"/>
                </a:solidFill>
              </a:rPr>
              <a:t>‏6‏</a:t>
            </a:r>
            <a:endParaRPr lang="he-IL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749040" y="4005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קין קם על הבל אחיו — והפגיעה מתרחשת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6"/>
                </a:solidFill>
              </a:rPr>
              <a:t>הבחירה הרעה הופכת למעשה שאי אפשר להחזיר · ד׳, ח׳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מי הם קין והבל?‏</a:t>
            </a:r>
            <a:endParaRPr lang="he-IL" sz="3000" dirty="0"/>
          </a:p>
        </p:txBody>
      </p:sp>
      <p:pic>
        <p:nvPicPr>
          <p:cNvPr id="3" name="Illustration" descr="איור: אדם וחוה עם שני בניהם מתחת לעץ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051560"/>
            <a:ext cx="2926080" cy="3593592"/>
          </a:xfrm>
          <a:prstGeom prst="rect">
            <a:avLst/>
          </a:prstGeom>
        </p:spPr>
      </p:pic>
      <p:sp>
        <p:nvSpPr>
          <p:cNvPr id="4" name="קין card"/>
          <p:cNvSpPr/>
          <p:nvPr/>
        </p:nvSpPr>
        <p:spPr>
          <a:xfrm>
            <a:off x="3017520" y="1051560"/>
            <a:ext cx="2514600" cy="26974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154680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קין</a:t>
            </a:r>
            <a:endParaRPr lang="he-IL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160020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מקומו: ‏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הבן הבכור של אדם וחוה</a:t>
            </a:r>
            <a:endParaRPr lang="he-IL" sz="14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שמו: ‏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חוה אומרת „קָנִיתִי אִישׁ אֶת־ה׳” (ד׳, א׳)‏</a:t>
            </a:r>
            <a:endParaRPr lang="he-IL" sz="14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עיסוקו: ‏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עובד אדמה</a:t>
            </a:r>
            <a:endParaRPr lang="he-IL" sz="14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מנחתו: ‏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‏„מִפְּרִי הָאֲדָמָה”‏</a:t>
            </a:r>
            <a:endParaRPr lang="he-IL" sz="1400" dirty="0"/>
          </a:p>
        </p:txBody>
      </p:sp>
      <p:sp>
        <p:nvSpPr>
          <p:cNvPr id="7" name="הבל card"/>
          <p:cNvSpPr/>
          <p:nvPr/>
        </p:nvSpPr>
        <p:spPr>
          <a:xfrm>
            <a:off x="457200" y="1051560"/>
            <a:ext cx="2514600" cy="26974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chemeClr val="tx2"/>
                </a:solidFill>
              </a:rPr>
              <a:t>הבל</a:t>
            </a:r>
            <a:endParaRPr lang="he-IL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0020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מקומו: ‏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האח הצעיר (ד׳, ב׳)‏</a:t>
            </a:r>
            <a:endParaRPr lang="he-IL" sz="14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שמו: ‏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לא מוסבר בפסוק. פרשנות: „הבל” = אדים, רמז לחייו הקצרים</a:t>
            </a:r>
            <a:endParaRPr lang="he-IL" sz="14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עיסוקו: ‏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רועה צאן</a:t>
            </a:r>
            <a:endParaRPr lang="he-IL" sz="14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מנחתו: ‏</a:t>
            </a:r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‏„מִבְּכֹרוֹת צֹאנוֹ”‏</a:t>
            </a:r>
            <a:endParaRPr lang="he-IL" sz="1400" dirty="0"/>
          </a:p>
        </p:txBody>
      </p:sp>
      <p:sp>
        <p:nvSpPr>
          <p:cNvPr id="10" name="Brothers note"/>
          <p:cNvSpPr/>
          <p:nvPr/>
        </p:nvSpPr>
        <p:spPr>
          <a:xfrm>
            <a:off x="457200" y="3886200"/>
            <a:ext cx="5074920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8862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bg1"/>
                </a:solidFill>
              </a:rPr>
              <a:t>שני אחים מאותה משפחה, עם עיסוקים שונים. הסיפור שואל: איך מגיבים כשלאח שלידך הולך טוב יותר?‏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איפה מתחיל הרע?‏</a:t>
            </a:r>
            <a:endParaRPr lang="he-IL" sz="3000" dirty="0"/>
          </a:p>
        </p:txBody>
      </p:sp>
      <p:sp>
        <p:nvSpPr>
          <p:cNvPr id="3" name="Flow 1"/>
          <p:cNvSpPr/>
          <p:nvPr/>
        </p:nvSpPr>
        <p:spPr>
          <a:xfrm>
            <a:off x="7269480" y="1188720"/>
            <a:ext cx="14173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269480" y="118872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אכזבה</a:t>
            </a:r>
            <a:endParaRPr lang="he-IL" sz="1600" dirty="0"/>
          </a:p>
        </p:txBody>
      </p:sp>
      <p:sp>
        <p:nvSpPr>
          <p:cNvPr id="5" name="Arrow 1"/>
          <p:cNvSpPr/>
          <p:nvPr/>
        </p:nvSpPr>
        <p:spPr>
          <a:xfrm>
            <a:off x="7022592" y="1481328"/>
            <a:ext cx="201168" cy="237744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6" name="Flow 2"/>
          <p:cNvSpPr/>
          <p:nvPr/>
        </p:nvSpPr>
        <p:spPr>
          <a:xfrm>
            <a:off x="5554980" y="1188720"/>
            <a:ext cx="14173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554980" y="118872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כעס וקנאה</a:t>
            </a:r>
            <a:endParaRPr lang="he-IL" sz="1600" dirty="0"/>
          </a:p>
        </p:txBody>
      </p:sp>
      <p:sp>
        <p:nvSpPr>
          <p:cNvPr id="8" name="Arrow 2"/>
          <p:cNvSpPr/>
          <p:nvPr/>
        </p:nvSpPr>
        <p:spPr>
          <a:xfrm>
            <a:off x="5308092" y="1481328"/>
            <a:ext cx="201168" cy="237744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9" name="Flow 3"/>
          <p:cNvSpPr/>
          <p:nvPr/>
        </p:nvSpPr>
        <p:spPr>
          <a:xfrm>
            <a:off x="3840480" y="1188720"/>
            <a:ext cx="14173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0" y="118872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מחשבות ורגשות</a:t>
            </a:r>
            <a:endParaRPr lang="he-IL" sz="1600" dirty="0"/>
          </a:p>
        </p:txBody>
      </p:sp>
      <p:sp>
        <p:nvSpPr>
          <p:cNvPr id="11" name="Arrow 3"/>
          <p:cNvSpPr/>
          <p:nvPr/>
        </p:nvSpPr>
        <p:spPr>
          <a:xfrm>
            <a:off x="3593592" y="1481328"/>
            <a:ext cx="201168" cy="237744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2" name="Flow 4"/>
          <p:cNvSpPr/>
          <p:nvPr/>
        </p:nvSpPr>
        <p:spPr>
          <a:xfrm>
            <a:off x="2125980" y="1188720"/>
            <a:ext cx="141732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125980" y="118872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בחירה</a:t>
            </a:r>
            <a:endParaRPr lang="he-IL" sz="1600" dirty="0"/>
          </a:p>
        </p:txBody>
      </p:sp>
      <p:sp>
        <p:nvSpPr>
          <p:cNvPr id="14" name="Arrow 4"/>
          <p:cNvSpPr/>
          <p:nvPr/>
        </p:nvSpPr>
        <p:spPr>
          <a:xfrm>
            <a:off x="1879092" y="1481328"/>
            <a:ext cx="201168" cy="237744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5" name="Flow 5"/>
          <p:cNvSpPr/>
          <p:nvPr/>
        </p:nvSpPr>
        <p:spPr>
          <a:xfrm>
            <a:off x="411480" y="1188720"/>
            <a:ext cx="14173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" y="118872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bg1"/>
                </a:solidFill>
              </a:rPr>
              <a:t>מעשה ותוצאה</a:t>
            </a:r>
            <a:endParaRPr lang="he-IL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chemeClr val="accent6"/>
                </a:solidFill>
              </a:rPr>
              <a:t>המנחה לא התקבלה</a:t>
            </a:r>
            <a:endParaRPr lang="he-IL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63540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‏„וַיִּחַר לְקַיִן מְאֹד”‏</a:t>
            </a:r>
            <a:endParaRPr lang="he-IL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‏„וַיִּפְּלוּ פָּנָיו”‏</a:t>
            </a:r>
            <a:endParaRPr lang="he-IL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034540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chemeClr val="accent1"/>
                </a:solidFill>
              </a:rPr>
              <a:t>כאן אפשר לעצור</a:t>
            </a:r>
            <a:endParaRPr lang="he-IL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‏„וַיָּקָם קַיִן”‏</a:t>
            </a:r>
            <a:endParaRPr lang="he-IL" sz="1100" dirty="0"/>
          </a:p>
        </p:txBody>
      </p:sp>
      <p:pic>
        <p:nvPicPr>
          <p:cNvPr id="22" name="Illustration" descr="איור: מאזניים זהובים — בכף אחת ענן ובכף השנייה שמש, סמל להתלבטו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14600"/>
            <a:ext cx="3291840" cy="2148840"/>
          </a:xfrm>
          <a:prstGeom prst="rect">
            <a:avLst/>
          </a:prstGeom>
        </p:spPr>
      </p:pic>
      <p:sp>
        <p:nvSpPr>
          <p:cNvPr id="23" name="Key idea box"/>
          <p:cNvSpPr/>
          <p:nvPr/>
        </p:nvSpPr>
        <p:spPr>
          <a:xfrm>
            <a:off x="4023360" y="2514600"/>
            <a:ext cx="46634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251960" y="263347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chemeClr val="bg1"/>
                </a:solidFill>
              </a:rPr>
              <a:t>רגש הוא לא בהכרח בחירה —‏</a:t>
            </a:r>
            <a:endParaRPr lang="he-IL" sz="1800" dirty="0"/>
          </a:p>
          <a:p>
            <a:pPr rtl="1" algn="r" indent="0" marL="0">
              <a:buNone/>
            </a:pPr>
            <a:r>
              <a:rPr lang="he-IL" altLang="en-US" sz="1800" b="1" dirty="0">
                <a:solidFill>
                  <a:schemeClr val="accent1"/>
                </a:solidFill>
              </a:rPr>
              <a:t>אבל התגובה לרגש יכולה להיות בחירה.‏</a:t>
            </a:r>
            <a:endParaRPr lang="he-IL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251960" y="33101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bg1"/>
                </a:solidFill>
              </a:rPr>
              <a:t>ה׳ לא מאשים את קין על הכעס. הוא שואל אותו עליו — ומזמין אותו לעצור ולחשוב לפני שהוא פועל.‏</a:t>
            </a:r>
            <a:endParaRPr lang="he-IL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51960" y="40050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‏„לָמָּה חָרָה לָךְ וְלָמָּה נָפְלוּ פָנֶיךָ”‏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accent3"/>
                </a:solidFill>
              </a:rPr>
              <a:t>בראשית ד׳, ו׳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‏„וְאַתָּה תִּמְשָׁל־בּוֹ”‏</a:t>
            </a:r>
            <a:endParaRPr lang="he-IL" sz="3200" dirty="0"/>
          </a:p>
        </p:txBody>
      </p:sp>
      <p:pic>
        <p:nvPicPr>
          <p:cNvPr id="3" name="Illustration" descr="איור: צומת דרכים — שביל אחד מוביל לצל ושביל אחר מוביל לאו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108960" cy="36027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931920" y="1051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9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‏„הֲלוֹא אִם־תֵּיטִיב שְׂאֵת וְאִם לֹא תֵיטִיב לַפֶּתַח חַטָּאת רֹבֵץ וְאֵלֶיךָ תְּשׁוּקָתוֹ וְאַתָּה תִּמְשָׁל־בּוֹ”‏</a:t>
            </a:r>
            <a:endParaRPr lang="he-IL" sz="19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200" b="1" dirty="0">
                <a:solidFill>
                  <a:schemeClr val="accent1"/>
                </a:solidFill>
              </a:rPr>
              <a:t>בראשית ד׳, ז׳</a:t>
            </a:r>
            <a:endParaRPr lang="he-IL" sz="1900" dirty="0"/>
          </a:p>
        </p:txBody>
      </p:sp>
      <p:sp>
        <p:nvSpPr>
          <p:cNvPr id="5" name="Rashi box"/>
          <p:cNvSpPr/>
          <p:nvPr/>
        </p:nvSpPr>
        <p:spPr>
          <a:xfrm>
            <a:off x="3931920" y="2423160"/>
            <a:ext cx="4754880" cy="1280160"/>
          </a:xfrm>
          <a:prstGeom prst="roundRect">
            <a:avLst>
              <a:gd name="adj" fmla="val 7143"/>
            </a:avLst>
          </a:prstGeom>
          <a:solidFill>
            <a:srgbClr val="1F2F5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0" y="2487168"/>
            <a:ext cx="4434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100" dirty="0">
                <a:solidFill>
                  <a:schemeClr val="accent3"/>
                </a:solidFill>
              </a:rPr>
              <a:t>רש״י על בראשית ד׳, ז׳</a:t>
            </a:r>
            <a:endParaRPr lang="he-IL" sz="11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accent1"/>
                </a:solidFill>
              </a:rPr>
              <a:t>‏„ואליך תשוקתו” — ‏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chemeClr val="bg1"/>
                </a:solidFill>
              </a:rPr>
              <a:t>יצר הרע „תמיד שוקק ומתאווה להכשילך”‏</a:t>
            </a:r>
            <a:endParaRPr lang="he-IL" sz="11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accent1"/>
                </a:solidFill>
              </a:rPr>
              <a:t>‏„ואתה תמשל בו” — ‏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bg1"/>
                </a:solidFill>
              </a:rPr>
              <a:t>‏„אם תרצה תתגבר עליו”‏</a:t>
            </a:r>
            <a:endParaRPr lang="he-IL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3840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accent3"/>
                </a:solidFill>
              </a:rPr>
              <a:t>היצר קיים ו„רובץ בפתח”, והוא מושך כל הזמן. אבל ההחלטה נשארת בידי האדם: הכוח להתגבר נתון לנו — אם נרצה.‏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מה כתוב — ומה נשאר פתוח?‏</a:t>
            </a:r>
            <a:endParaRPr lang="he-IL" sz="3000" dirty="0"/>
          </a:p>
        </p:txBody>
      </p:sp>
      <p:pic>
        <p:nvPicPr>
          <p:cNvPr id="3" name="Illustration" descr="איור: ספר פתוח לאור נר על רקע כחול כהה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377440" cy="3611880"/>
          </a:xfrm>
          <a:prstGeom prst="rect">
            <a:avLst/>
          </a:prstGeom>
        </p:spPr>
      </p:pic>
      <p:sp>
        <p:nvSpPr>
          <p:cNvPr id="4" name="Text card"/>
          <p:cNvSpPr/>
          <p:nvPr/>
        </p:nvSpPr>
        <p:spPr>
          <a:xfrm>
            <a:off x="5989320" y="1051560"/>
            <a:ext cx="2697480" cy="278892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5" name="Text card circle"/>
          <p:cNvSpPr/>
          <p:nvPr/>
        </p:nvSpPr>
        <p:spPr>
          <a:xfrm>
            <a:off x="8138160" y="116128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Text c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030" y="1264158"/>
            <a:ext cx="205740" cy="2057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116128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מה כתוב בפסוק</a:t>
            </a:r>
            <a:endParaRPr lang="he-IL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1664208"/>
            <a:ext cx="24231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5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קין הביא „מִפְּרִי הָאֲדָמָה” (ד׳, ג׳)‏</a:t>
            </a:r>
            <a:endParaRPr lang="he-IL" sz="1400" dirty="0"/>
          </a:p>
          <a:p>
            <a:pPr rtl="1" algn="r" indent="0" marL="0">
              <a:spcAft>
                <a:spcPts val="5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הבל הביא „מִבְּכֹרוֹת צֹאנוֹ וּמֵחֶלְבֵהֶן” (ד׳, ד׳)‏</a:t>
            </a:r>
            <a:endParaRPr lang="he-IL" sz="1400" dirty="0"/>
          </a:p>
          <a:p>
            <a:pPr rtl="1" algn="r" indent="0" marL="0">
              <a:spcAft>
                <a:spcPts val="5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ה׳ שעה אל הבל ומנחתו — ואל קין לא (ד׳, ד׳–ה׳)‏</a:t>
            </a:r>
            <a:endParaRPr lang="he-IL" sz="1400" dirty="0"/>
          </a:p>
          <a:p>
            <a:pPr rtl="1" algn="r" indent="0" marL="0">
              <a:spcAft>
                <a:spcPts val="5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ה׳ פונה לקין ושואל: „לָמָּה חָרָה לָךְ” (ד׳, ו׳)‏</a:t>
            </a:r>
            <a:endParaRPr lang="he-IL" sz="1400" dirty="0"/>
          </a:p>
        </p:txBody>
      </p:sp>
      <p:sp>
        <p:nvSpPr>
          <p:cNvPr id="9" name="Interpretation card"/>
          <p:cNvSpPr/>
          <p:nvPr/>
        </p:nvSpPr>
        <p:spPr>
          <a:xfrm>
            <a:off x="3108960" y="105156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7F2E6"/>
          </a:solidFill>
          <a:ln/>
        </p:spPr>
      </p:sp>
      <p:sp>
        <p:nvSpPr>
          <p:cNvPr id="10" name="Interpretation card circle"/>
          <p:cNvSpPr/>
          <p:nvPr/>
        </p:nvSpPr>
        <p:spPr>
          <a:xfrm>
            <a:off x="5257800" y="116128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nterpretation car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670" y="1264158"/>
            <a:ext cx="205740" cy="2057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246120" y="1161288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פרשנויות אפשריות</a:t>
            </a:r>
            <a:endParaRPr lang="he-IL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246120" y="1664208"/>
            <a:ext cx="24231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5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רש״י: קין הביא „מן הגרוע” (ד׳, ג׳)‏</a:t>
            </a:r>
            <a:endParaRPr lang="he-IL" sz="1400" dirty="0"/>
          </a:p>
          <a:p>
            <a:pPr rtl="1" algn="r" indent="0" marL="0">
              <a:spcAft>
                <a:spcPts val="5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תנחומא: קין הביא „מן מותר מאכלו” — ממה שנשאר</a:t>
            </a:r>
            <a:endParaRPr lang="he-IL" sz="1400" dirty="0"/>
          </a:p>
          <a:p>
            <a:pPr rtl="1" algn="r" indent="0" marL="0">
              <a:spcAft>
                <a:spcPts val="5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הבל בחר במובחר — „בכורות” ו„חלב”‏</a:t>
            </a:r>
            <a:endParaRPr lang="he-IL" sz="1400" dirty="0"/>
          </a:p>
          <a:p>
            <a:pPr rtl="1" algn="r" indent="0" marL="0">
              <a:spcAft>
                <a:spcPts val="5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ההבדל בכוונה ובלב שמאחורי הנתינה</a:t>
            </a:r>
            <a:endParaRPr lang="he-IL" sz="1400" dirty="0"/>
          </a:p>
        </p:txBody>
      </p:sp>
      <p:sp>
        <p:nvSpPr>
          <p:cNvPr id="14" name="Caution note"/>
          <p:cNvSpPr/>
          <p:nvPr/>
        </p:nvSpPr>
        <p:spPr>
          <a:xfrm>
            <a:off x="3108960" y="3977640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Caution circle"/>
          <p:cNvSpPr/>
          <p:nvPr/>
        </p:nvSpPr>
        <p:spPr>
          <a:xfrm>
            <a:off x="8183880" y="411480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Cauti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892" y="4210812"/>
            <a:ext cx="192024" cy="19202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246120" y="400507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המקרא אינו מסביר במפורש מדוע מנחת קין לא התקבלה. כל הסבר הוא פרשנות של חז״ל והמפרשים.‏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חטא ועונש: סיבה ותוצאה</a:t>
            </a:r>
            <a:endParaRPr lang="he-IL" sz="3000" dirty="0"/>
          </a:p>
        </p:txBody>
      </p:sp>
      <p:sp>
        <p:nvSpPr>
          <p:cNvPr id="3" name="Chain 1"/>
          <p:cNvSpPr/>
          <p:nvPr/>
        </p:nvSpPr>
        <p:spPr>
          <a:xfrm>
            <a:off x="4023360" y="1051560"/>
            <a:ext cx="46634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Chain 1 circle"/>
          <p:cNvSpPr/>
          <p:nvPr/>
        </p:nvSpPr>
        <p:spPr>
          <a:xfrm>
            <a:off x="8092440" y="1234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Ch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60520" y="10972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הסיבה: המעשה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קין קם על הבל אחיו — כעס שלא נעצר</a:t>
            </a:r>
            <a:pPr rtl="1" algn="r" indent="0" marL="0">
              <a:buNone/>
            </a:pPr>
            <a:endParaRPr lang="he-IL" sz="15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accent6"/>
                </a:solidFill>
              </a:rPr>
              <a:t>בראשית ד׳, ח׳</a:t>
            </a:r>
            <a:endParaRPr lang="he-IL" sz="1500" dirty="0"/>
          </a:p>
        </p:txBody>
      </p:sp>
      <p:sp>
        <p:nvSpPr>
          <p:cNvPr id="7" name="Chain arrow 1"/>
          <p:cNvSpPr/>
          <p:nvPr/>
        </p:nvSpPr>
        <p:spPr>
          <a:xfrm>
            <a:off x="6236208" y="2002536"/>
            <a:ext cx="237744" cy="219456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8" name="Chain 2"/>
          <p:cNvSpPr/>
          <p:nvPr/>
        </p:nvSpPr>
        <p:spPr>
          <a:xfrm>
            <a:off x="4023360" y="2258568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7F2E6"/>
          </a:solidFill>
          <a:ln/>
        </p:spPr>
      </p:sp>
      <p:sp>
        <p:nvSpPr>
          <p:cNvPr id="9" name="Chain 2 circle"/>
          <p:cNvSpPr/>
          <p:nvPr/>
        </p:nvSpPr>
        <p:spPr>
          <a:xfrm>
            <a:off x="8092440" y="24414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h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5786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230428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העדות: הקול שאינו נשתק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‏„קוֹל דְּמֵי אָחִיךָ צֹעֲקִים אֵלַי מִן־הָאֲדָמָה”‏</a:t>
            </a:r>
            <a:pPr rtl="1" algn="r" indent="0" marL="0">
              <a:buNone/>
            </a:pPr>
            <a:endParaRPr lang="he-IL" sz="15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accent6"/>
                </a:solidFill>
              </a:rPr>
              <a:t>בראשית ד׳, י׳</a:t>
            </a:r>
            <a:endParaRPr lang="he-IL" sz="1500" dirty="0"/>
          </a:p>
        </p:txBody>
      </p:sp>
      <p:sp>
        <p:nvSpPr>
          <p:cNvPr id="12" name="Chain arrow 2"/>
          <p:cNvSpPr/>
          <p:nvPr/>
        </p:nvSpPr>
        <p:spPr>
          <a:xfrm>
            <a:off x="6236208" y="3209544"/>
            <a:ext cx="237744" cy="219456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3" name="Chain 3"/>
          <p:cNvSpPr/>
          <p:nvPr/>
        </p:nvSpPr>
        <p:spPr>
          <a:xfrm>
            <a:off x="4023360" y="3465576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7F2E6"/>
          </a:solidFill>
          <a:ln/>
        </p:spPr>
      </p:sp>
      <p:sp>
        <p:nvSpPr>
          <p:cNvPr id="14" name="Chain 3 circle"/>
          <p:cNvSpPr/>
          <p:nvPr/>
        </p:nvSpPr>
        <p:spPr>
          <a:xfrm>
            <a:off x="8092440" y="3648456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Ch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7856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60520" y="351129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התוצאה: העונש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האדמה לא תיתן כוחה, וקין יהיה „‏</a:t>
            </a:r>
            <a:pPr rtl="1" algn="r" indent="0" marL="0">
              <a:buNone/>
            </a:pPr>
            <a:r>
              <a:rPr lang="he-IL" alt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נָע וָנָד</a:t>
            </a:r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‏”‏</a:t>
            </a:r>
            <a:pPr rtl="1" algn="r" indent="0" marL="0">
              <a:buNone/>
            </a:pPr>
            <a:endParaRPr lang="he-IL" sz="15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accent6"/>
                </a:solidFill>
              </a:rPr>
              <a:t>בראשית ד׳, י״ב</a:t>
            </a:r>
            <a:endParaRPr lang="he-IL" sz="1500" dirty="0"/>
          </a:p>
        </p:txBody>
      </p:sp>
      <p:pic>
        <p:nvPicPr>
          <p:cNvPr id="17" name="Illustration" descr="איור: אדם בודד הולך בדרך מתפתלת בין דיונות בשעת דמדומים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1051560"/>
            <a:ext cx="3291840" cy="2011680"/>
          </a:xfrm>
          <a:prstGeom prst="rect">
            <a:avLst/>
          </a:prstGeom>
        </p:spPr>
      </p:pic>
      <p:sp>
        <p:nvSpPr>
          <p:cNvPr id="18" name="Recognition box"/>
          <p:cNvSpPr/>
          <p:nvPr/>
        </p:nvSpPr>
        <p:spPr>
          <a:xfrm>
            <a:off x="457200" y="3246120"/>
            <a:ext cx="3291840" cy="1389888"/>
          </a:xfrm>
          <a:prstGeom prst="roundRect">
            <a:avLst>
              <a:gd name="adj" fmla="val 6579"/>
            </a:avLst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94360" y="3291840"/>
            <a:ext cx="3017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5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‏„גָּדוֹל עֲוֹנִי מִנְּשֹׂא” (ד׳, י״ג)‏</a:t>
            </a:r>
            <a:endParaRPr lang="he-IL" sz="15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dirty="0">
                <a:solidFill>
                  <a:schemeClr val="bg1"/>
                </a:solidFill>
              </a:rPr>
              <a:t>קין מכיר בכובד המעשה — וה׳ שם לו אות להגנה (ד׳, ט״ו).‏</a:t>
            </a:r>
            <a:endParaRPr lang="he-IL" sz="15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300" b="1" dirty="0">
                <a:solidFill>
                  <a:schemeClr val="accent1"/>
                </a:solidFill>
              </a:rPr>
              <a:t>גם אחרי חטא יש מקום להכרה ולתיקון.‏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‏„הֲשֹׁמֵר אָחִי אָנֹכִי?”‏</a:t>
            </a:r>
            <a:endParaRPr lang="he-IL" sz="3000" dirty="0"/>
          </a:p>
        </p:txBody>
      </p:sp>
      <p:pic>
        <p:nvPicPr>
          <p:cNvPr id="3" name="Illustration" descr="איור: אדם מושיט יד לעזרה לאדם אחר היושב על הקרקע, באור זריחה ח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108960" cy="36027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241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קין עונה בשאלה — כאילו אין לו קשר לאחיו (בראשית ד׳, ט׳).‏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רש״י: „לשון תמה הוא” — קין משיב בשאלה מתריסה, ולא עונה.‏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התורה מלמדת את ההפך: אנחנו קשורים זה לזה.‏</a:t>
            </a:r>
            <a:endParaRPr lang="he-IL" sz="1400" dirty="0"/>
          </a:p>
        </p:txBody>
      </p:sp>
      <p:sp>
        <p:nvSpPr>
          <p:cNvPr id="5" name="Responsibility 1"/>
          <p:cNvSpPr/>
          <p:nvPr/>
        </p:nvSpPr>
        <p:spPr>
          <a:xfrm>
            <a:off x="3840480" y="205740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6" name="Responsibility 1 circle"/>
          <p:cNvSpPr/>
          <p:nvPr/>
        </p:nvSpPr>
        <p:spPr>
          <a:xfrm>
            <a:off x="434340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Responsibility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244852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886200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כלפי האחר</a:t>
            </a:r>
            <a:endParaRPr lang="he-IL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913632" y="292608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200" dirty="0">
                <a:solidFill>
                  <a:schemeClr val="tx2"/>
                </a:solidFill>
              </a:rPr>
              <a:t>לא לעבור בשתיקה מול פגיעה, גם כשזה לא נוח</a:t>
            </a:r>
            <a:endParaRPr lang="he-IL" sz="1200" dirty="0"/>
          </a:p>
        </p:txBody>
      </p:sp>
      <p:sp>
        <p:nvSpPr>
          <p:cNvPr id="10" name="Responsibility 2"/>
          <p:cNvSpPr/>
          <p:nvPr/>
        </p:nvSpPr>
        <p:spPr>
          <a:xfrm>
            <a:off x="2148840" y="205740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1" name="Responsibility 2 circle"/>
          <p:cNvSpPr/>
          <p:nvPr/>
        </p:nvSpPr>
        <p:spPr>
          <a:xfrm>
            <a:off x="265176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esponsibility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60" y="224485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94560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כלפי הקרוב</a:t>
            </a:r>
            <a:endParaRPr lang="he-IL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221992" y="292608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200" dirty="0">
                <a:solidFill>
                  <a:schemeClr val="tx2"/>
                </a:solidFill>
              </a:rPr>
              <a:t>לשים לב למי שנמצא לידי ומרגיש לבד</a:t>
            </a:r>
            <a:endParaRPr lang="he-IL" sz="1200" dirty="0"/>
          </a:p>
        </p:txBody>
      </p:sp>
      <p:sp>
        <p:nvSpPr>
          <p:cNvPr id="15" name="Responsibility 3"/>
          <p:cNvSpPr/>
          <p:nvPr/>
        </p:nvSpPr>
        <p:spPr>
          <a:xfrm>
            <a:off x="457200" y="205740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6" name="Responsibility 3 circle"/>
          <p:cNvSpPr/>
          <p:nvPr/>
        </p:nvSpPr>
        <p:spPr>
          <a:xfrm>
            <a:off x="96012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esponsibility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224485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2920" y="2633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כלפי החברה</a:t>
            </a:r>
            <a:endParaRPr lang="he-IL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30352" y="292608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200" dirty="0">
                <a:solidFill>
                  <a:schemeClr val="tx2"/>
                </a:solidFill>
              </a:rPr>
              <a:t>ליצור מקום בטוח, שבו אף אחד לא נשאר מאחור</a:t>
            </a:r>
            <a:endParaRPr lang="he-IL" sz="1200" dirty="0"/>
          </a:p>
        </p:txBody>
      </p:sp>
      <p:sp>
        <p:nvSpPr>
          <p:cNvPr id="20" name="Message banner"/>
          <p:cNvSpPr/>
          <p:nvPr/>
        </p:nvSpPr>
        <p:spPr>
          <a:xfrm>
            <a:off x="457200" y="3730752"/>
            <a:ext cx="4846320" cy="886968"/>
          </a:xfrm>
          <a:prstGeom prst="roundRect">
            <a:avLst>
              <a:gd name="adj" fmla="val 1237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548640" y="3730752"/>
            <a:ext cx="4663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000" b="1" dirty="0">
                <a:solidFill>
                  <a:schemeClr val="accent1"/>
                </a:solidFill>
              </a:rPr>
              <a:t>כן — ‏</a:t>
            </a:r>
            <a:pPr rtl="1" algn="ctr" indent="0" marL="0">
              <a:buNone/>
            </a:pPr>
            <a:r>
              <a:rPr lang="he-IL" altLang="en-US" sz="2000" b="1" dirty="0">
                <a:solidFill>
                  <a:schemeClr val="bg1"/>
                </a:solidFill>
              </a:rPr>
              <a:t>יש לנו אחריות לא להתעלם מפגיעה.‏</a:t>
            </a:r>
            <a:endParaRPr lang="he-IL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קין מתרץ — מה מספר המדרש</a:t>
            </a:r>
            <a:endParaRPr lang="he-IL" sz="3000" dirty="0"/>
          </a:p>
        </p:txBody>
      </p:sp>
      <p:pic>
        <p:nvPicPr>
          <p:cNvPr id="3" name="Illustration" descr="איור: דמות מסתתרת מאחורי עץ באור הירח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651760" cy="3593592"/>
          </a:xfrm>
          <a:prstGeom prst="rect">
            <a:avLst/>
          </a:prstGeom>
        </p:spPr>
      </p:pic>
      <p:sp>
        <p:nvSpPr>
          <p:cNvPr id="4" name="Excuse 1"/>
          <p:cNvSpPr/>
          <p:nvPr/>
        </p:nvSpPr>
        <p:spPr>
          <a:xfrm>
            <a:off x="3383280" y="1051560"/>
            <a:ext cx="530352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5" name="Excuse 1 badge"/>
          <p:cNvSpPr/>
          <p:nvPr/>
        </p:nvSpPr>
        <p:spPr>
          <a:xfrm>
            <a:off x="8183880" y="1234440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83880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chemeClr val="bg1"/>
                </a:solidFill>
              </a:rPr>
              <a:t>‏1‏</a:t>
            </a:r>
            <a:endParaRPr lang="he-IL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520440" y="108813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להאשים את מי שברא אותו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‏„בָּרָאתָ בִּי יֵצֶר הָרָע”‏</a:t>
            </a:r>
            <a:pPr rtl="1" algn="r" indent="0" marL="0">
              <a:buNone/>
            </a:pPr>
            <a:r>
              <a:rPr lang="he-IL" altLang="en-US" sz="1300" dirty="0">
                <a:solidFill>
                  <a:schemeClr val="accent6"/>
                </a:solidFill>
              </a:rPr>
              <a:t>‏ — כאילו האחריות לא שלו</a:t>
            </a:r>
            <a:endParaRPr lang="he-IL" sz="1500" dirty="0"/>
          </a:p>
        </p:txBody>
      </p:sp>
      <p:sp>
        <p:nvSpPr>
          <p:cNvPr id="8" name="Excuse 2"/>
          <p:cNvSpPr/>
          <p:nvPr/>
        </p:nvSpPr>
        <p:spPr>
          <a:xfrm>
            <a:off x="3383280" y="1892808"/>
            <a:ext cx="530352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Excuse 2 badge"/>
          <p:cNvSpPr/>
          <p:nvPr/>
        </p:nvSpPr>
        <p:spPr>
          <a:xfrm>
            <a:off x="8183880" y="2075688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8388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chemeClr val="bg1"/>
                </a:solidFill>
              </a:rPr>
              <a:t>‏2‏</a:t>
            </a:r>
            <a:endParaRPr lang="he-IL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929384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לטעון שלא ידע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‏„לֹא יָדַעְתִּי וְלֹא רָאִיתִי הָרוּג מִיָּמַי”‏</a:t>
            </a:r>
            <a:pPr rtl="1" algn="r" indent="0" marL="0">
              <a:buNone/>
            </a:pPr>
            <a:r>
              <a:rPr lang="he-IL" altLang="en-US" sz="1300" dirty="0">
                <a:solidFill>
                  <a:schemeClr val="accent6"/>
                </a:solidFill>
              </a:rPr>
              <a:t>‏ — כאילו לא הבין מה יקרה</a:t>
            </a:r>
            <a:endParaRPr lang="he-IL" sz="1500" dirty="0"/>
          </a:p>
        </p:txBody>
      </p:sp>
      <p:sp>
        <p:nvSpPr>
          <p:cNvPr id="12" name="Excuse 3"/>
          <p:cNvSpPr/>
          <p:nvPr/>
        </p:nvSpPr>
        <p:spPr>
          <a:xfrm>
            <a:off x="3383280" y="2734056"/>
            <a:ext cx="5303520" cy="768096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Excuse 3 badge"/>
          <p:cNvSpPr/>
          <p:nvPr/>
        </p:nvSpPr>
        <p:spPr>
          <a:xfrm>
            <a:off x="8183880" y="2916936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2916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chemeClr val="bg1"/>
                </a:solidFill>
              </a:rPr>
              <a:t>‏3‏</a:t>
            </a:r>
            <a:endParaRPr lang="he-IL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7706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להסתתר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‏„אָבִי וְאִמִּי … אֵינָן יוֹדְעִין”‏</a:t>
            </a:r>
            <a:pPr rtl="1" algn="r" indent="0" marL="0">
              <a:buNone/>
            </a:pPr>
            <a:r>
              <a:rPr lang="he-IL" altLang="en-US" sz="1300" dirty="0">
                <a:solidFill>
                  <a:schemeClr val="accent6"/>
                </a:solidFill>
              </a:rPr>
              <a:t>‏ — כאילו מה שלא רואים — לא קרה</a:t>
            </a:r>
            <a:endParaRPr lang="he-IL" sz="1500" dirty="0"/>
          </a:p>
        </p:txBody>
      </p:sp>
      <p:sp>
        <p:nvSpPr>
          <p:cNvPr id="16" name="Excuse 4"/>
          <p:cNvSpPr/>
          <p:nvPr/>
        </p:nvSpPr>
        <p:spPr>
          <a:xfrm>
            <a:off x="3383280" y="3575304"/>
            <a:ext cx="5303520" cy="768096"/>
          </a:xfrm>
          <a:prstGeom prst="roundRect">
            <a:avLst>
              <a:gd name="adj" fmla="val 9524"/>
            </a:avLst>
          </a:prstGeom>
          <a:solidFill>
            <a:srgbClr val="F7F2E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Excuse 4 badge"/>
          <p:cNvSpPr/>
          <p:nvPr/>
        </p:nvSpPr>
        <p:spPr>
          <a:xfrm>
            <a:off x="8183880" y="375818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83880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‏✓‏</a:t>
            </a:r>
            <a:endParaRPr lang="he-IL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361188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tx2"/>
                </a:solidFill>
              </a:rPr>
              <a:t>ואז — הודאה</a:t>
            </a:r>
            <a:endParaRPr lang="he-IL" sz="15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‏„הוֹאִיל וְהוֹדֵיתָ וְעָשִׂיתָ תְּשׁוּבָה”‏</a:t>
            </a:r>
            <a:pPr rtl="1" algn="r" indent="0" marL="0">
              <a:buNone/>
            </a:pPr>
            <a:r>
              <a:rPr lang="he-IL" altLang="en-US" sz="1300" dirty="0">
                <a:solidFill>
                  <a:schemeClr val="accent6"/>
                </a:solidFill>
              </a:rPr>
              <a:t>‏ — רק כשקין מודה, עונשו מוקל</a:t>
            </a:r>
            <a:endParaRPr lang="he-IL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383280" y="44348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chemeClr val="accent6"/>
                </a:solidFill>
              </a:rPr>
              <a:t>מקור: מדרש תנחומא, בראשית ט׳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לקיחת אחריות: להודות ולא לברוח</a:t>
            </a:r>
            <a:endParaRPr lang="he-IL" sz="3000" dirty="0"/>
          </a:p>
        </p:txBody>
      </p:sp>
      <p:pic>
        <p:nvPicPr>
          <p:cNvPr id="3" name="Illustration" descr="איור: אדם עומד מול מראה ורואה את עצמו — סמל להתמודדות עם המעש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560320" cy="3593592"/>
          </a:xfrm>
          <a:prstGeom prst="rect">
            <a:avLst/>
          </a:prstGeom>
        </p:spPr>
      </p:pic>
      <p:sp>
        <p:nvSpPr>
          <p:cNvPr id="4" name="Escaping card"/>
          <p:cNvSpPr/>
          <p:nvPr/>
        </p:nvSpPr>
        <p:spPr>
          <a:xfrm>
            <a:off x="6080760" y="1051560"/>
            <a:ext cx="2606040" cy="1719072"/>
          </a:xfrm>
          <a:prstGeom prst="roundRect">
            <a:avLst>
              <a:gd name="adj" fmla="val 5319"/>
            </a:avLst>
          </a:prstGeom>
          <a:solidFill>
            <a:schemeClr val="bg2"/>
          </a:solidFill>
          <a:ln/>
        </p:spPr>
      </p:sp>
      <p:sp>
        <p:nvSpPr>
          <p:cNvPr id="5" name="Escaping card circle"/>
          <p:cNvSpPr/>
          <p:nvPr/>
        </p:nvSpPr>
        <p:spPr>
          <a:xfrm>
            <a:off x="8183880" y="1161288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Escaping car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892" y="1257300"/>
            <a:ext cx="192024" cy="1920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11612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בורחים מאחריות</a:t>
            </a:r>
            <a:endParaRPr lang="he-IL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159105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קין: ‏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‏„לֹא יָדַעְתִּי”‏</a:t>
            </a:r>
            <a:endParaRPr lang="he-IL" sz="14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קין במדרש: ‏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‏„בָּרָאתָ בִּי יֵצֶר הָרָע”‏</a:t>
            </a:r>
            <a:endParaRPr lang="he-IL" sz="14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אדם: ‏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‏„הָאִשָּׁה אֲשֶׁר נָתַתָּה עִמָּדִי”‏</a:t>
            </a:r>
            <a:endParaRPr lang="he-IL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25146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chemeClr val="accent6"/>
                </a:solidFill>
              </a:rPr>
              <a:t>בראשית ד׳ ט׳ · תנחומא בראשית ט׳ · בראשית ג׳ י״ב</a:t>
            </a:r>
            <a:endParaRPr lang="he-IL" sz="1000" dirty="0"/>
          </a:p>
        </p:txBody>
      </p:sp>
      <p:sp>
        <p:nvSpPr>
          <p:cNvPr id="10" name="Owning card"/>
          <p:cNvSpPr/>
          <p:nvPr/>
        </p:nvSpPr>
        <p:spPr>
          <a:xfrm>
            <a:off x="3291840" y="1051560"/>
            <a:ext cx="2606040" cy="1719072"/>
          </a:xfrm>
          <a:prstGeom prst="roundRect">
            <a:avLst>
              <a:gd name="adj" fmla="val 5319"/>
            </a:avLst>
          </a:prstGeom>
          <a:solidFill>
            <a:srgbClr val="F7F2E6"/>
          </a:solidFill>
          <a:ln/>
        </p:spPr>
      </p:sp>
      <p:sp>
        <p:nvSpPr>
          <p:cNvPr id="11" name="Owning card circle"/>
          <p:cNvSpPr/>
          <p:nvPr/>
        </p:nvSpPr>
        <p:spPr>
          <a:xfrm>
            <a:off x="5394960" y="11612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Owning car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72" y="1257300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29000" y="11612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לוקחים אחריות</a:t>
            </a:r>
            <a:endParaRPr lang="he-IL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29000" y="159105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יהודה: ‏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‏„צָדְקָה מִמֶּנִּי”‏</a:t>
            </a:r>
            <a:endParaRPr lang="he-IL" sz="14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דוד: ‏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‏„חָטָאתִי לַה׳”‏</a:t>
            </a:r>
            <a:endParaRPr lang="he-IL" sz="14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he-IL" altLang="en-US" sz="1400" b="1" dirty="0">
                <a:solidFill>
                  <a:schemeClr val="tx2"/>
                </a:solidFill>
              </a:rPr>
              <a:t>קין בסוף: ‏</a:t>
            </a:r>
            <a:pPr rtl="1" algn="r" indent="0" marL="0">
              <a:spcAft>
                <a:spcPts val="4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‏„גָּדוֹל עֲוֹנִי מִנְּשֹׂא”‏</a:t>
            </a:r>
            <a:endParaRPr lang="he-IL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429000" y="25146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chemeClr val="accent6"/>
                </a:solidFill>
              </a:rPr>
              <a:t>בראשית ל״ח כ״ו · שמואל ב׳ י״ב י״ג · בראשית ד׳ י״ג</a:t>
            </a:r>
            <a:endParaRPr lang="he-IL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3291840" y="2834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chemeClr val="tx2"/>
                </a:solidFill>
              </a:rPr>
              <a:t>רש״י (ד׳, ט׳): ‏</a:t>
            </a:r>
            <a:pPr rtl="1" algn="r" indent="0" marL="0">
              <a:buNone/>
            </a:pPr>
            <a:r>
              <a:rPr lang="he-IL" altLang="en-US" sz="1300" dirty="0">
                <a:solidFill>
                  <a:schemeClr val="tx2"/>
                </a:solidFill>
              </a:rPr>
              <a:t>ה׳ שאל „אי הבל אחיך” כדי לתת לקין פתח — „אולי ישוב ויאמר: אני הרגתיו”.‏</a:t>
            </a:r>
            <a:endParaRPr lang="he-IL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291840" y="31729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b="1" dirty="0">
                <a:solidFill>
                  <a:schemeClr val="accent1"/>
                </a:solidFill>
              </a:rPr>
              <a:t>שלושה צעדים, לפי הרמב״ם (הלכות תשובה א׳, א׳)‏</a:t>
            </a:r>
            <a:endParaRPr lang="he-IL" sz="1200" dirty="0"/>
          </a:p>
        </p:txBody>
      </p:sp>
      <p:sp>
        <p:nvSpPr>
          <p:cNvPr id="18" name="Step 1"/>
          <p:cNvSpPr/>
          <p:nvPr/>
        </p:nvSpPr>
        <p:spPr>
          <a:xfrm>
            <a:off x="6949440" y="3474720"/>
            <a:ext cx="1737360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/>
        </p:spPr>
      </p:sp>
      <p:sp>
        <p:nvSpPr>
          <p:cNvPr id="19" name="Step 1 badge"/>
          <p:cNvSpPr/>
          <p:nvPr/>
        </p:nvSpPr>
        <p:spPr>
          <a:xfrm>
            <a:off x="7662672" y="3538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662672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chemeClr val="tx2"/>
                </a:solidFill>
              </a:rPr>
              <a:t>‏1‏</a:t>
            </a:r>
            <a:endParaRPr lang="he-IL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99516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bg1"/>
                </a:solidFill>
              </a:rPr>
              <a:t>להודות</a:t>
            </a:r>
            <a:endParaRPr lang="he-IL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022592" y="418795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chemeClr val="accent3"/>
                </a:solidFill>
              </a:rPr>
              <a:t>לומר מה עשיתי, בלי תירוצים</a:t>
            </a:r>
            <a:endParaRPr lang="he-IL" sz="1100" dirty="0"/>
          </a:p>
        </p:txBody>
      </p:sp>
      <p:sp>
        <p:nvSpPr>
          <p:cNvPr id="23" name="Step 2"/>
          <p:cNvSpPr/>
          <p:nvPr/>
        </p:nvSpPr>
        <p:spPr>
          <a:xfrm>
            <a:off x="5120640" y="3474720"/>
            <a:ext cx="1737360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/>
        </p:spPr>
      </p:sp>
      <p:sp>
        <p:nvSpPr>
          <p:cNvPr id="24" name="Step 2 badge"/>
          <p:cNvSpPr/>
          <p:nvPr/>
        </p:nvSpPr>
        <p:spPr>
          <a:xfrm>
            <a:off x="5833872" y="3538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833872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chemeClr val="tx2"/>
                </a:solidFill>
              </a:rPr>
              <a:t>‏2‏</a:t>
            </a:r>
            <a:endParaRPr lang="he-IL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16636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bg1"/>
                </a:solidFill>
              </a:rPr>
              <a:t>להתחרט</a:t>
            </a:r>
            <a:endParaRPr lang="he-IL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193792" y="418795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chemeClr val="accent3"/>
                </a:solidFill>
              </a:rPr>
              <a:t>להרגיש צער על הפגיעה</a:t>
            </a:r>
            <a:endParaRPr lang="he-IL" sz="1100" dirty="0"/>
          </a:p>
        </p:txBody>
      </p:sp>
      <p:sp>
        <p:nvSpPr>
          <p:cNvPr id="28" name="Step 3"/>
          <p:cNvSpPr/>
          <p:nvPr/>
        </p:nvSpPr>
        <p:spPr>
          <a:xfrm>
            <a:off x="3291840" y="3474720"/>
            <a:ext cx="1737360" cy="1170432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/>
        </p:spPr>
      </p:sp>
      <p:sp>
        <p:nvSpPr>
          <p:cNvPr id="29" name="Step 3 badge"/>
          <p:cNvSpPr/>
          <p:nvPr/>
        </p:nvSpPr>
        <p:spPr>
          <a:xfrm>
            <a:off x="4005072" y="3538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005072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chemeClr val="tx2"/>
                </a:solidFill>
              </a:rPr>
              <a:t>‏3‏</a:t>
            </a:r>
            <a:endParaRPr lang="he-IL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3337560" y="3877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bg1"/>
                </a:solidFill>
              </a:rPr>
              <a:t>לתקן</a:t>
            </a:r>
            <a:endParaRPr lang="he-IL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3364992" y="418795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sz="1100" dirty="0">
                <a:solidFill>
                  <a:schemeClr val="accent3"/>
                </a:solidFill>
              </a:rPr>
              <a:t>ולהתחייב שזה לא יחזור</a:t>
            </a:r>
            <a:endParaRPr lang="he-I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accent1"/>
                </a:solidFill>
              </a:rPr>
              <a:t>כוחה של תשובה</a:t>
            </a:r>
            <a:endParaRPr lang="he-IL" sz="3200" dirty="0"/>
          </a:p>
        </p:txBody>
      </p:sp>
      <p:pic>
        <p:nvPicPr>
          <p:cNvPr id="3" name="Illustration" descr="איור: דלת נפתחת ואור חם יוצא ממנה, ודמות הולכת לעברה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651760" cy="3593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474720" y="1051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accent3"/>
                </a:solidFill>
              </a:rPr>
              <a:t>המדרש מספר שאדם הראשון פגש את קין אחרי העונש:‏</a:t>
            </a:r>
            <a:endParaRPr lang="he-IL" sz="1500" dirty="0"/>
          </a:p>
        </p:txBody>
      </p:sp>
      <p:sp>
        <p:nvSpPr>
          <p:cNvPr id="5" name="Dialogue 1"/>
          <p:cNvSpPr/>
          <p:nvPr/>
        </p:nvSpPr>
        <p:spPr>
          <a:xfrm>
            <a:off x="3474720" y="1444752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1F2F5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611880" y="1444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אדם: ‏</a:t>
            </a:r>
            <a:pPr rtl="1"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‏„מַה נַּעֲשָׂה בְּדִינְךָ?”‏</a:t>
            </a:r>
            <a:endParaRPr lang="he-IL" sz="1500" dirty="0"/>
          </a:p>
        </p:txBody>
      </p:sp>
      <p:sp>
        <p:nvSpPr>
          <p:cNvPr id="7" name="Dialogue 2"/>
          <p:cNvSpPr/>
          <p:nvPr/>
        </p:nvSpPr>
        <p:spPr>
          <a:xfrm>
            <a:off x="3474720" y="1975104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1F2F5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11880" y="19751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קין: ‏</a:t>
            </a:r>
            <a:pPr rtl="1"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‏„עָשִׂיתִי תְּשׁוּבָה וְנִתְפַּשַּׁרְתִּי”‏</a:t>
            </a:r>
            <a:endParaRPr lang="he-IL" sz="1500" dirty="0"/>
          </a:p>
        </p:txBody>
      </p:sp>
      <p:sp>
        <p:nvSpPr>
          <p:cNvPr id="9" name="Dialogue 3"/>
          <p:cNvSpPr/>
          <p:nvPr/>
        </p:nvSpPr>
        <p:spPr>
          <a:xfrm>
            <a:off x="3474720" y="2505456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1F2F5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11880" y="25054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אדם: ‏</a:t>
            </a:r>
            <a:pPr rtl="1"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‏„כָּךְ הִיא כֹּחָהּ שֶׁל תְּשׁוּבָה וַאֲנִי לֹא הָיִיתִי יוֹדֵעַ!”‏</a:t>
            </a:r>
            <a:endParaRPr lang="he-IL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0449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chemeClr val="accent3"/>
                </a:solidFill>
              </a:rPr>
              <a:t>בראשית רבה כ״ב, י״ג</a:t>
            </a:r>
            <a:endParaRPr lang="he-IL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364992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chemeClr val="accent1"/>
                </a:solidFill>
              </a:rPr>
              <a:t>גם אחרי מעשה קשה הסיפור לא נגמר. ‏</a:t>
            </a:r>
            <a:pPr rtl="1" algn="r" indent="0" marL="0">
              <a:buNone/>
            </a:pPr>
            <a:r>
              <a:rPr lang="he-IL" altLang="en-US" sz="1500" dirty="0">
                <a:solidFill>
                  <a:schemeClr val="bg1"/>
                </a:solidFill>
              </a:rPr>
              <a:t>מי שמודה ומתחרט יכול להתחיל מחדש. התשובה לא מוחקת את מה שקרה, אבל משנה את הדרך שממשיכים בה. וה׳ שם לקין „אוֹת” כדי להגן עליו (ד׳, ט״ו).‏</a:t>
            </a:r>
            <a:endParaRPr lang="he-I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מה זה אומר עלינו היום?‏</a:t>
            </a:r>
            <a:endParaRPr lang="he-IL" sz="3000" dirty="0"/>
          </a:p>
        </p:txBody>
      </p:sp>
      <p:pic>
        <p:nvPicPr>
          <p:cNvPr id="3" name="Illustration" descr="איור: תלמידים תומכים זה בזה מול בית הספ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291840" cy="2057400"/>
          </a:xfrm>
          <a:prstGeom prst="rect">
            <a:avLst/>
          </a:prstGeom>
        </p:spPr>
      </p:pic>
      <p:sp>
        <p:nvSpPr>
          <p:cNvPr id="4" name="Today quote"/>
          <p:cNvSpPr/>
          <p:nvPr/>
        </p:nvSpPr>
        <p:spPr>
          <a:xfrm>
            <a:off x="457200" y="3291840"/>
            <a:ext cx="3291840" cy="1344168"/>
          </a:xfrm>
          <a:prstGeom prst="roundRect">
            <a:avLst>
              <a:gd name="adj" fmla="val 6803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291840"/>
            <a:ext cx="30175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‏„וְאַתָּה תִּמְשָׁל־בּוֹ”‏</a:t>
            </a:r>
            <a:endParaRPr lang="he-IL" sz="1600" dirty="0"/>
          </a:p>
          <a:p>
            <a:pPr rtl="1" algn="r" indent="0" marL="0">
              <a:buNone/>
            </a:pPr>
            <a:r>
              <a:rPr lang="he-IL" altLang="en-US" sz="1400" dirty="0">
                <a:solidFill>
                  <a:schemeClr val="bg1"/>
                </a:solidFill>
              </a:rPr>
              <a:t>זה לא נאמר רק לקין. גם לנו יש בכל יום רגעים קטנים של בחירה.‏</a:t>
            </a:r>
            <a:endParaRPr lang="he-IL" sz="1600" dirty="0"/>
          </a:p>
        </p:txBody>
      </p:sp>
      <p:sp>
        <p:nvSpPr>
          <p:cNvPr id="6" name="Today 1"/>
          <p:cNvSpPr/>
          <p:nvPr/>
        </p:nvSpPr>
        <p:spPr>
          <a:xfrm>
            <a:off x="6446520" y="1051560"/>
            <a:ext cx="22402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1161288"/>
            <a:ext cx="19659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כשמקנאים</a:t>
            </a:r>
            <a:endParaRPr lang="he-IL" sz="16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לזהות את הרגש ולבחור לא לפגוע. אפשר לדבר על זה עם מישהו קרוב.‏</a:t>
            </a:r>
            <a:endParaRPr lang="he-IL" sz="1600" dirty="0"/>
          </a:p>
        </p:txBody>
      </p:sp>
      <p:sp>
        <p:nvSpPr>
          <p:cNvPr id="8" name="Today 2"/>
          <p:cNvSpPr/>
          <p:nvPr/>
        </p:nvSpPr>
        <p:spPr>
          <a:xfrm>
            <a:off x="4023360" y="1051560"/>
            <a:ext cx="22402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60520" y="1161288"/>
            <a:ext cx="19659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כשרואים פגיעה</a:t>
            </a:r>
            <a:endParaRPr lang="he-IL" sz="16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לא לשאול „השומר אחי אנוכי?” — לעזור, לפנות למבוגר, לא לשתוק.‏</a:t>
            </a:r>
            <a:endParaRPr lang="he-IL" sz="1600" dirty="0"/>
          </a:p>
        </p:txBody>
      </p:sp>
      <p:sp>
        <p:nvSpPr>
          <p:cNvPr id="10" name="Today 3"/>
          <p:cNvSpPr/>
          <p:nvPr/>
        </p:nvSpPr>
        <p:spPr>
          <a:xfrm>
            <a:off x="6446520" y="2880360"/>
            <a:ext cx="2240280" cy="1737360"/>
          </a:xfrm>
          <a:prstGeom prst="roundRect">
            <a:avLst>
              <a:gd name="adj" fmla="val 5263"/>
            </a:avLst>
          </a:prstGeom>
          <a:solidFill>
            <a:srgbClr val="F7F2E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2990088"/>
            <a:ext cx="19659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כשטועים</a:t>
            </a:r>
            <a:endParaRPr lang="he-IL" sz="16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להודות בלי תירוצים: „טעיתי, אני מצטער”, ולנסות לתקן.‏</a:t>
            </a:r>
            <a:endParaRPr lang="he-IL" sz="1600" dirty="0"/>
          </a:p>
        </p:txBody>
      </p:sp>
      <p:sp>
        <p:nvSpPr>
          <p:cNvPr id="12" name="Today 4"/>
          <p:cNvSpPr/>
          <p:nvPr/>
        </p:nvSpPr>
        <p:spPr>
          <a:xfrm>
            <a:off x="4023360" y="2880360"/>
            <a:ext cx="22402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60520" y="2990088"/>
            <a:ext cx="19659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כשאחר מצליח</a:t>
            </a:r>
            <a:endParaRPr lang="he-IL" sz="16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he-IL" altLang="en-US" sz="1400" dirty="0">
                <a:solidFill>
                  <a:schemeClr val="tx2"/>
                </a:solidFill>
              </a:rPr>
              <a:t>לפרגן. ההצלחה של מישהו אחר לא לוקחת ממני דבר.‏</a:t>
            </a:r>
            <a:endParaRPr lang="he-I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tx2"/>
                </a:solidFill>
              </a:rPr>
              <a:t>פעילות בונוס לכיתה</a:t>
            </a:r>
            <a:endParaRPr lang="he-IL" sz="3000" dirty="0"/>
          </a:p>
        </p:txBody>
      </p:sp>
      <p:pic>
        <p:nvPicPr>
          <p:cNvPr id="3" name="Illustration" descr="איור: תלמידים יושבים מול לוח ומשוחחים, עם בועות דיבו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926080" cy="1828800"/>
          </a:xfrm>
          <a:prstGeom prst="rect">
            <a:avLst/>
          </a:prstGeom>
        </p:spPr>
      </p:pic>
      <p:sp>
        <p:nvSpPr>
          <p:cNvPr id="4" name="Scenario box"/>
          <p:cNvSpPr/>
          <p:nvPr/>
        </p:nvSpPr>
        <p:spPr>
          <a:xfrm>
            <a:off x="3657600" y="1051560"/>
            <a:ext cx="50292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79476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המצב: ‏</a:t>
            </a:r>
            <a:pPr rtl="1" algn="r" indent="0" marL="0">
              <a:buNone/>
            </a:pPr>
            <a:r>
              <a:rPr lang="he-IL" altLang="en-US" sz="1600" b="1" dirty="0">
                <a:solidFill>
                  <a:schemeClr val="bg1"/>
                </a:solidFill>
              </a:rPr>
              <a:t>חבר קיבל ציון טוב יותר — ואתם מרגישים קנאה.‏</a:t>
            </a:r>
            <a:endParaRPr lang="he-IL" sz="1600" dirty="0"/>
          </a:p>
        </p:txBody>
      </p:sp>
      <p:sp>
        <p:nvSpPr>
          <p:cNvPr id="6" name="Question 1 badge"/>
          <p:cNvSpPr/>
          <p:nvPr/>
        </p:nvSpPr>
        <p:spPr>
          <a:xfrm>
            <a:off x="8412480" y="190195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tx2"/>
                </a:solidFill>
              </a:rPr>
              <a:t>‏1‏</a:t>
            </a:r>
            <a:endParaRPr lang="he-IL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2"/>
                </a:solidFill>
              </a:rPr>
              <a:t>מה אפשר להרגיש?‏</a:t>
            </a:r>
            <a:endParaRPr lang="he-IL" sz="1500" dirty="0"/>
          </a:p>
        </p:txBody>
      </p:sp>
      <p:sp>
        <p:nvSpPr>
          <p:cNvPr id="9" name="Question 2 badge"/>
          <p:cNvSpPr/>
          <p:nvPr/>
        </p:nvSpPr>
        <p:spPr>
          <a:xfrm>
            <a:off x="8412480" y="224942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0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tx2"/>
                </a:solidFill>
              </a:rPr>
              <a:t>‏2‏</a:t>
            </a:r>
            <a:endParaRPr lang="he-IL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2219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2"/>
                </a:solidFill>
              </a:rPr>
              <a:t>אילו תגובות אפשר לבחור?‏</a:t>
            </a:r>
            <a:endParaRPr lang="he-IL" sz="1500" dirty="0"/>
          </a:p>
        </p:txBody>
      </p:sp>
      <p:sp>
        <p:nvSpPr>
          <p:cNvPr id="12" name="Question 3 badge"/>
          <p:cNvSpPr/>
          <p:nvPr/>
        </p:nvSpPr>
        <p:spPr>
          <a:xfrm>
            <a:off x="8412480" y="25968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12480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b="1" dirty="0">
                <a:solidFill>
                  <a:schemeClr val="tx2"/>
                </a:solidFill>
              </a:rPr>
              <a:t>‏3‏</a:t>
            </a:r>
            <a:endParaRPr lang="he-IL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25694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chemeClr val="tx2"/>
                </a:solidFill>
              </a:rPr>
              <a:t>מה פירוש „למשול בחטא” במקרה הזה?‏</a:t>
            </a:r>
            <a:endParaRPr lang="he-IL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chemeClr val="accent1"/>
                </a:solidFill>
              </a:rPr>
              <a:t>‏„למשול בחטא” = ‏</a:t>
            </a:r>
            <a:pPr rtl="1" algn="r" indent="0" marL="0">
              <a:buNone/>
            </a:pPr>
            <a:r>
              <a:rPr lang="he-IL" altLang="en-US" sz="1300" dirty="0">
                <a:solidFill>
                  <a:schemeClr val="tx2"/>
                </a:solidFill>
              </a:rPr>
              <a:t>לא להעלים את הרגש, אלא לבחור מה עושים איתו.‏</a:t>
            </a:r>
            <a:endParaRPr lang="he-IL" sz="1300" dirty="0"/>
          </a:p>
        </p:txBody>
      </p:sp>
      <p:sp>
        <p:nvSpPr>
          <p:cNvPr id="16" name="Response card 1"/>
          <p:cNvSpPr/>
          <p:nvPr/>
        </p:nvSpPr>
        <p:spPr>
          <a:xfrm>
            <a:off x="6126480" y="3291840"/>
            <a:ext cx="2560320" cy="1344168"/>
          </a:xfrm>
          <a:prstGeom prst="roundRect">
            <a:avLst>
              <a:gd name="adj" fmla="val 6803"/>
            </a:avLst>
          </a:prstGeom>
          <a:solidFill>
            <a:schemeClr val="bg2"/>
          </a:solidFill>
          <a:ln/>
        </p:spPr>
      </p:sp>
      <p:sp>
        <p:nvSpPr>
          <p:cNvPr id="17" name="Response 1 circle"/>
          <p:cNvSpPr/>
          <p:nvPr/>
        </p:nvSpPr>
        <p:spPr>
          <a:xfrm>
            <a:off x="7178040" y="33649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Respons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3479292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217920" y="3858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להתפרץ</a:t>
            </a:r>
            <a:endParaRPr lang="he-IL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621792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00" dirty="0">
                <a:solidFill>
                  <a:schemeClr val="accent6"/>
                </a:solidFill>
              </a:rPr>
              <a:t>מה יקרה אחר כך? מי ייפגע?‏</a:t>
            </a:r>
            <a:endParaRPr lang="he-IL" sz="1200" dirty="0"/>
          </a:p>
        </p:txBody>
      </p:sp>
      <p:sp>
        <p:nvSpPr>
          <p:cNvPr id="21" name="Response card 2"/>
          <p:cNvSpPr/>
          <p:nvPr/>
        </p:nvSpPr>
        <p:spPr>
          <a:xfrm>
            <a:off x="3291840" y="3291840"/>
            <a:ext cx="2560320" cy="1344168"/>
          </a:xfrm>
          <a:prstGeom prst="roundRect">
            <a:avLst>
              <a:gd name="adj" fmla="val 6803"/>
            </a:avLst>
          </a:prstGeom>
          <a:solidFill>
            <a:schemeClr val="bg2"/>
          </a:solidFill>
          <a:ln/>
        </p:spPr>
      </p:sp>
      <p:sp>
        <p:nvSpPr>
          <p:cNvPr id="22" name="Response 2 circle"/>
          <p:cNvSpPr/>
          <p:nvPr/>
        </p:nvSpPr>
        <p:spPr>
          <a:xfrm>
            <a:off x="4343400" y="33649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Respons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3479292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383280" y="3858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להתרחק ולחשוב</a:t>
            </a:r>
            <a:endParaRPr lang="he-IL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338328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00" dirty="0">
                <a:solidFill>
                  <a:schemeClr val="accent6"/>
                </a:solidFill>
              </a:rPr>
              <a:t>איך זה עוזר לי להירגע ולבחור?‏</a:t>
            </a:r>
            <a:endParaRPr lang="he-IL" sz="1200" dirty="0"/>
          </a:p>
        </p:txBody>
      </p:sp>
      <p:sp>
        <p:nvSpPr>
          <p:cNvPr id="26" name="Response card 3"/>
          <p:cNvSpPr/>
          <p:nvPr/>
        </p:nvSpPr>
        <p:spPr>
          <a:xfrm>
            <a:off x="457200" y="3291840"/>
            <a:ext cx="2560320" cy="1344168"/>
          </a:xfrm>
          <a:prstGeom prst="roundRect">
            <a:avLst>
              <a:gd name="adj" fmla="val 6803"/>
            </a:avLst>
          </a:prstGeom>
          <a:solidFill>
            <a:srgbClr val="F7F2E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Response 3 circle"/>
          <p:cNvSpPr/>
          <p:nvPr/>
        </p:nvSpPr>
        <p:spPr>
          <a:xfrm>
            <a:off x="1508760" y="33649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Respons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60" y="3479292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48640" y="3858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b="1" dirty="0">
                <a:solidFill>
                  <a:schemeClr val="tx2"/>
                </a:solidFill>
              </a:rPr>
              <a:t>לפרגן ולדבר על הרגש</a:t>
            </a:r>
            <a:endParaRPr lang="he-IL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00" dirty="0">
                <a:solidFill>
                  <a:schemeClr val="accent6"/>
                </a:solidFill>
              </a:rPr>
              <a:t>מה זה עושה לי ולחברות?‏</a:t>
            </a:r>
            <a:endParaRPr lang="he-IL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0" y="320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chemeClr val="accent1"/>
                </a:solidFill>
              </a:rPr>
              <a:t>סיכום</a:t>
            </a:r>
            <a:endParaRPr lang="he-IL" sz="3200" dirty="0"/>
          </a:p>
        </p:txBody>
      </p:sp>
      <p:pic>
        <p:nvPicPr>
          <p:cNvPr id="3" name="Illustration" descr="איור: דרך ישרה ומוארת המובילה אל הזריחה בין שדו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Takeaway 1 badge"/>
          <p:cNvSpPr/>
          <p:nvPr/>
        </p:nvSpPr>
        <p:spPr>
          <a:xfrm>
            <a:off x="8339328" y="98755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39328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chemeClr val="tx2"/>
                </a:solidFill>
              </a:rPr>
              <a:t>‏1‏</a:t>
            </a:r>
            <a:endParaRPr lang="he-IL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9144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chemeClr val="bg1"/>
                </a:solidFill>
              </a:rPr>
              <a:t>רגשות קשים הם אנושיים</a:t>
            </a:r>
            <a:endParaRPr lang="he-IL" sz="1700" dirty="0"/>
          </a:p>
          <a:p>
            <a:pPr rtl="1" algn="r" indent="0" marL="0">
              <a:buNone/>
            </a:pPr>
            <a:r>
              <a:rPr lang="he-IL" altLang="en-US" sz="1200" dirty="0">
                <a:solidFill>
                  <a:schemeClr val="accent3"/>
                </a:solidFill>
              </a:rPr>
              <a:t>קנאה וכעס הם טבעיים — גם לקין היו</a:t>
            </a:r>
            <a:endParaRPr lang="he-IL" sz="1700" dirty="0"/>
          </a:p>
        </p:txBody>
      </p:sp>
      <p:sp>
        <p:nvSpPr>
          <p:cNvPr id="7" name="Takeaway 2 badge"/>
          <p:cNvSpPr/>
          <p:nvPr/>
        </p:nvSpPr>
        <p:spPr>
          <a:xfrm>
            <a:off x="8339328" y="15544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39328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chemeClr val="tx2"/>
                </a:solidFill>
              </a:rPr>
              <a:t>‏2‏</a:t>
            </a:r>
            <a:endParaRPr lang="he-IL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4813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chemeClr val="bg1"/>
                </a:solidFill>
              </a:rPr>
              <a:t>המעשים הם בחירה</a:t>
            </a:r>
            <a:endParaRPr lang="he-IL" sz="1700" dirty="0"/>
          </a:p>
          <a:p>
            <a:pPr rtl="1" algn="r" indent="0" marL="0">
              <a:buNone/>
            </a:pPr>
            <a:r>
              <a:rPr lang="he-IL" altLang="en-US" sz="1200" dirty="0">
                <a:solidFill>
                  <a:schemeClr val="accent3"/>
                </a:solidFill>
              </a:rPr>
              <a:t>‏„וְאַתָּה תִּמְשָׁל־בּוֹ” — אם תרצה, תתגבר</a:t>
            </a:r>
            <a:endParaRPr lang="he-IL" sz="1700" dirty="0"/>
          </a:p>
        </p:txBody>
      </p:sp>
      <p:sp>
        <p:nvSpPr>
          <p:cNvPr id="10" name="Takeaway 3 badge"/>
          <p:cNvSpPr/>
          <p:nvPr/>
        </p:nvSpPr>
        <p:spPr>
          <a:xfrm>
            <a:off x="8339328" y="212140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39328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chemeClr val="tx2"/>
                </a:solidFill>
              </a:rPr>
              <a:t>‏3‏</a:t>
            </a:r>
            <a:endParaRPr lang="he-IL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04825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dirty="0">
                <a:solidFill>
                  <a:schemeClr val="bg1"/>
                </a:solidFill>
              </a:rPr>
              <a:t>לוקחים אחריות — מודים ולא בורחים</a:t>
            </a:r>
            <a:endParaRPr lang="he-IL" sz="1700" dirty="0"/>
          </a:p>
          <a:p>
            <a:pPr rtl="1" algn="r" indent="0" marL="0">
              <a:buNone/>
            </a:pPr>
            <a:r>
              <a:rPr lang="he-IL" altLang="en-US" sz="1200" dirty="0">
                <a:solidFill>
                  <a:schemeClr val="accent3"/>
                </a:solidFill>
              </a:rPr>
              <a:t>להודות, להתחרט ולתקן, כמו יהודה ודוד</a:t>
            </a:r>
            <a:endParaRPr lang="he-IL" sz="1700" dirty="0"/>
          </a:p>
        </p:txBody>
      </p:sp>
      <p:sp>
        <p:nvSpPr>
          <p:cNvPr id="13" name="Closing question"/>
          <p:cNvSpPr/>
          <p:nvPr/>
        </p:nvSpPr>
        <p:spPr>
          <a:xfrm>
            <a:off x="4572000" y="269748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F2F55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26974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700" b="1" i="1" dirty="0">
                <a:solidFill>
                  <a:schemeClr val="accent1"/>
                </a:solidFill>
              </a:rPr>
              <a:t>איזו בחירה קטנה יכולה לשנות תוצאה גדולה?‏</a:t>
            </a:r>
            <a:endParaRPr lang="he-IL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401568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200" b="1" dirty="0">
                <a:solidFill>
                  <a:schemeClr val="accent1"/>
                </a:solidFill>
              </a:rPr>
              <a:t>מקורות</a:t>
            </a:r>
            <a:endParaRPr lang="he-IL" sz="1050" dirty="0"/>
          </a:p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050" dirty="0">
                <a:solidFill>
                  <a:schemeClr val="accent3"/>
                </a:solidFill>
              </a:rPr>
              <a:t>בראשית פרק ד׳, פסוקים א׳–ט״ז</a:t>
            </a:r>
            <a:endParaRPr lang="he-IL" sz="1050" dirty="0"/>
          </a:p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050" dirty="0">
                <a:solidFill>
                  <a:schemeClr val="accent3"/>
                </a:solidFill>
              </a:rPr>
              <a:t>רש״י על בראשית ד׳, ג׳ („מן הגרוע”) ועל ד׳, ז׳ („אם תרצה תתגבר עליו”)‏</a:t>
            </a:r>
            <a:endParaRPr lang="he-IL" sz="1050" dirty="0"/>
          </a:p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050" dirty="0">
                <a:solidFill>
                  <a:schemeClr val="accent3"/>
                </a:solidFill>
              </a:rPr>
              <a:t>רש״י על בראשית ד׳, ט׳ („אולי ישוב ויאמר: אני הרגתיו”)‏</a:t>
            </a:r>
            <a:endParaRPr lang="he-IL" sz="1050" dirty="0"/>
          </a:p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050" dirty="0">
                <a:solidFill>
                  <a:schemeClr val="accent3"/>
                </a:solidFill>
              </a:rPr>
              <a:t>מדרש תנחומא, בראשית ט׳ · בראשית רבה כ״ב, י״ג</a:t>
            </a:r>
            <a:endParaRPr lang="he-IL" sz="1050" dirty="0"/>
          </a:p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050" dirty="0">
                <a:solidFill>
                  <a:schemeClr val="accent3"/>
                </a:solidFill>
              </a:rPr>
              <a:t>בראשית ג׳, י״ב · ל״ח, כ״ו · שמואל ב׳ י״ב, י״ג</a:t>
            </a:r>
            <a:endParaRPr lang="he-IL" sz="1050" dirty="0"/>
          </a:p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050" dirty="0">
                <a:solidFill>
                  <a:schemeClr val="accent3"/>
                </a:solidFill>
              </a:rPr>
              <a:t>רמב״ם, הלכות תשובה א׳, א׳</a:t>
            </a:r>
            <a:endParaRPr lang="he-IL" sz="1050" dirty="0"/>
          </a:p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050" b="1" dirty="0">
                <a:solidFill>
                  <a:schemeClr val="accent1"/>
                </a:solidFill>
              </a:rPr>
              <a:t>דף המקורות המלא:‏</a:t>
            </a:r>
            <a:endParaRPr lang="he-IL" sz="1050" dirty="0"/>
          </a:p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05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‏arielagubal.github.io/kayin-hevel/sources.html‏</a:t>
            </a:r>
            <a:endParaRPr lang="he-IL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pageCurlDouble" invX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ayin Hevel">
  <a:themeElements>
    <a:clrScheme name="Kayin Hevel">
      <a:dk1>
        <a:srgbClr val="1B2233"/>
      </a:dk1>
      <a:lt1>
        <a:srgbClr val="FFFFFF"/>
      </a:lt1>
      <a:dk2>
        <a:srgbClr val="14213D"/>
      </a:dk2>
      <a:lt2>
        <a:srgbClr val="EFE6D2"/>
      </a:lt2>
      <a:accent1>
        <a:srgbClr val="C9A227"/>
      </a:accent1>
      <a:accent2>
        <a:srgbClr val="14213D"/>
      </a:accent2>
      <a:accent3>
        <a:srgbClr val="E9DCC0"/>
      </a:accent3>
      <a:accent4>
        <a:srgbClr val="2E4377"/>
      </a:accent4>
      <a:accent5>
        <a:srgbClr val="B23A3A"/>
      </a:accent5>
      <a:accent6>
        <a:srgbClr val="6B7280"/>
      </a:accent6>
      <a:hlink>
        <a:srgbClr val="2E4377"/>
      </a:hlink>
      <a:folHlink>
        <a:srgbClr val="6B7280"/>
      </a:folHlink>
    </a:clrScheme>
    <a:fontScheme name="Kayin Heve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קין והבל — בחירה, חטא ואחריות</dc:title>
  <dc:subject>PptxGenJS Presentation</dc:subject>
  <dc:creator>אריאל אג׳ובל, אורי טבול, איתמר אלבוים</dc:creator>
  <cp:lastModifiedBy>אריאל אג׳ובל, אורי טבול, איתמר אלבוים</cp:lastModifiedBy>
  <cp:revision>1</cp:revision>
  <dcterms:created xsi:type="dcterms:W3CDTF">2026-10-13T08:12:54Z</dcterms:created>
  <dcterms:modified xsi:type="dcterms:W3CDTF">2026-10-13T08:12:54Z</dcterms:modified>
</cp:coreProperties>
</file>